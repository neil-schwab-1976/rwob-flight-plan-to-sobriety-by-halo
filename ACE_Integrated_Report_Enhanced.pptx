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CEs: Integrated Impact Report — Enhanced" id="{A3EA214D-C743-4B9D-A372-A4AF99B96CA8}">
          <p14:sldIdLst>
            <p14:sldId id="2561"/>
          </p14:sldIdLst>
        </p14:section>
        <p14:section name="Mechanism of Unconscious Momentum" id="{B25A73A1-2C53-480F-84C2-57A679A77B4F}">
          <p14:sldIdLst>
            <p14:sldId id="2562"/>
            <p14:sldId id="2563"/>
          </p14:sldIdLst>
        </p14:section>
        <p14:section name="Unconscious Decision Chain" id="{89C5C122-7D61-42BE-AEBF-EDB74AE8446A}">
          <p14:sldIdLst>
            <p14:sldId id="2564"/>
            <p14:sldId id="2565"/>
          </p14:sldIdLst>
        </p14:section>
        <p14:section name="Five-Step Practice" id="{89EDAA08-4C63-44A3-8088-020A05323A50}">
          <p14:sldIdLst>
            <p14:sldId id="2566"/>
            <p14:sldId id="2567"/>
          </p14:sldIdLst>
        </p14:section>
        <p14:section name="Phased Care Pathway" id="{55632DF2-17AC-4130-AA23-208BC19422D2}">
          <p14:sldIdLst>
            <p14:sldId id="2568"/>
            <p14:sldId id="2569"/>
          </p14:sldIdLst>
        </p14:section>
        <p14:section name="Somatic Assessment Addendum" id="{C04BC62C-92D1-4BDE-A754-6C5F5D923CDD}">
          <p14:sldIdLst>
            <p14:sldId id="2570"/>
            <p14:sldId id="2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E100F8-B376-4D80-8CCC-56B718ED9E1C}" v="14" dt="2025-12-19T07:07:45.4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43" d="100"/>
          <a:sy n="43" d="100"/>
        </p:scale>
        <p:origin x="1210" y="3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D07E0B-0598-4EBC-99DD-02817404D958}" type="datetimeFigureOut">
              <a:t>8/22/2026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F53064-1385-4A1C-9FE8-5B5CD2BDB00C}" type="slidenum">
              <a:t>‹#›</a:t>
            </a:fld>
            <a:endParaRPr lang="en-US"/>
          </a:p>
        </p:txBody>
      </p:sp>
    </p:spTree>
    <p:extLst>
      <p:ext uri="{BB962C8B-B14F-4D97-AF65-F5344CB8AC3E}">
        <p14:creationId xmlns:p14="http://schemas.microsoft.com/office/powerpoint/2010/main" val="1666373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A0C8EAA-ED5A-4915-9752-BDC5427F818F}" type="slidenum">
              <a:t>1</a:t>
            </a:fld>
            <a:endParaRPr lang="en-US"/>
          </a:p>
        </p:txBody>
      </p:sp>
    </p:spTree>
    <p:extLst>
      <p:ext uri="{BB962C8B-B14F-4D97-AF65-F5344CB8AC3E}">
        <p14:creationId xmlns:p14="http://schemas.microsoft.com/office/powerpoint/2010/main" val="3519265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https://trioscollege-my.sharepoint.com/personal/neil_schwab_triosstudent_com/Documents/Microsoft%20Copilot%20Chat%20Files/Conscious%20Karma%20Human%20Evolution,%20and%20the%20Path%20to%20Therapeutic%20Resolution.pdf
Understanding Developmental Stack and Momentum
</a:t>
            </a:r>
          </a:p>
        </p:txBody>
      </p:sp>
      <p:sp>
        <p:nvSpPr>
          <p:cNvPr id="4" name="Slide Number Placeholder 3"/>
          <p:cNvSpPr>
            <a:spLocks noGrp="1"/>
          </p:cNvSpPr>
          <p:nvPr>
            <p:ph type="sldNum" sz="quarter" idx="5"/>
          </p:nvPr>
        </p:nvSpPr>
        <p:spPr/>
        <p:txBody>
          <a:bodyPr/>
          <a:lstStyle/>
          <a:p>
            <a:fld id="{CA0C8EAA-ED5A-4915-9752-BDC5427F818F}" type="slidenum">
              <a:t>2</a:t>
            </a:fld>
            <a:endParaRPr lang="en-US"/>
          </a:p>
        </p:txBody>
      </p:sp>
    </p:spTree>
    <p:extLst>
      <p:ext uri="{BB962C8B-B14F-4D97-AF65-F5344CB8AC3E}">
        <p14:creationId xmlns:p14="http://schemas.microsoft.com/office/powerpoint/2010/main" val="2706003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https://trioscollege-my.sharepoint.com/personal/neil_schwab_triosstudent_com/Documents/Microsoft%20Copilot%20Chat%20Files/Conscious%20Karma%20Human%20Evolution,%20and%20the%20Path%20to%20Therapeutic%20Resolution.pdf
Unconscious momentum refers to the persistence of patterns formed through early developmental experiences, even after gaining insight into them. The developmental stack begins with genetic inheritance, followed by early attachment experiences, schema formation during childhood, and limbic system dominance in response to trauma. These layers create automatic survival programs that continue to operate beneath conscious awareness. Even when individuals recognize these patterns, they often find themselves repeating them because of the accumulated neurological and behavioral momentum. This phenomenon explains why insight alone does not lead to immediate change. To overcome unconscious momentum, individuals must repeatedly engage in conscious practices that interrupt automatic responses and build new neural pathways. Depersonalizing patterns—understanding that these behaviors are installed mechanisms rather than core identity—is crucial for reducing shame and fostering change. The concept of dual reality during transition is also important: old patterns still express themselves while new, aligned actions gradually accumulate positive momentum. This process requires patience, repetition, and structured interventions that engage executive functioning and ethical intention, ultimately shifting the trajectory from fear-based survival to conscious, values-driven living.
</a:t>
            </a:r>
          </a:p>
        </p:txBody>
      </p:sp>
      <p:sp>
        <p:nvSpPr>
          <p:cNvPr id="4" name="Slide Number Placeholder 3"/>
          <p:cNvSpPr>
            <a:spLocks noGrp="1"/>
          </p:cNvSpPr>
          <p:nvPr>
            <p:ph type="sldNum" sz="quarter" idx="5"/>
          </p:nvPr>
        </p:nvSpPr>
        <p:spPr/>
        <p:txBody>
          <a:bodyPr/>
          <a:lstStyle/>
          <a:p>
            <a:fld id="{CA0C8EAA-ED5A-4915-9752-BDC5427F818F}" type="slidenum">
              <a:t>3</a:t>
            </a:fld>
            <a:endParaRPr lang="en-US"/>
          </a:p>
        </p:txBody>
      </p:sp>
    </p:spTree>
    <p:extLst>
      <p:ext uri="{BB962C8B-B14F-4D97-AF65-F5344CB8AC3E}">
        <p14:creationId xmlns:p14="http://schemas.microsoft.com/office/powerpoint/2010/main" val="1268954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https://trioscollege-my.sharepoint.com/personal/neil_schwab_triosstudent_com/_layouts/15/Doc.aspx?sourcedoc=%7BDD964864-9EF5-46EF-8627-D2D0D756CC6C%7D&amp;file=AW%20THESSIS%201.docx&amp;action=default&amp;mobileredirect=true
Addiction and Relational Compulsion Mechanisms
</a:t>
            </a:r>
          </a:p>
        </p:txBody>
      </p:sp>
      <p:sp>
        <p:nvSpPr>
          <p:cNvPr id="4" name="Slide Number Placeholder 3"/>
          <p:cNvSpPr>
            <a:spLocks noGrp="1"/>
          </p:cNvSpPr>
          <p:nvPr>
            <p:ph type="sldNum" sz="quarter" idx="5"/>
          </p:nvPr>
        </p:nvSpPr>
        <p:spPr/>
        <p:txBody>
          <a:bodyPr/>
          <a:lstStyle/>
          <a:p>
            <a:fld id="{CA0C8EAA-ED5A-4915-9752-BDC5427F818F}" type="slidenum">
              <a:t>4</a:t>
            </a:fld>
            <a:endParaRPr lang="en-US"/>
          </a:p>
        </p:txBody>
      </p:sp>
    </p:spTree>
    <p:extLst>
      <p:ext uri="{BB962C8B-B14F-4D97-AF65-F5344CB8AC3E}">
        <p14:creationId xmlns:p14="http://schemas.microsoft.com/office/powerpoint/2010/main" val="2592490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https://trioscollege-my.sharepoint.com/personal/neil_schwab_triosstudent_com/_layouts/15/Doc.aspx?sourcedoc=%7BDD964864-9EF5-46EF-8627-D2D0D756CC6C%7D&amp;file=AW%20THESSIS%201.docx&amp;action=default&amp;mobileredirect=true
The unconscious decision chain illustrates how ACE-related trauma drives compulsive behaviors such as addiction and dysfunctional relationship patterns. This chain typically follows six predictable steps: trigger activation, automatic thinking, emotional reactivity, behavioral compulsion, temporary relief, and reinforcement cycle. Each step reinforces the previous one, creating a closed loop that perpetuates suffering. For example, a trigger—such as perceived rejection—activates conditioned thoughts rooted in childhood schemas, which then generate intense emotional states like fear or shame. These emotions drive compulsive behaviors aimed at immediate regulation, such as substance use or pursuit of an unavailable partner. Temporary relief from these behaviors reinforces the association between external solutions and internal regulation, strengthening the cycle. Breaking this chain requires inserting conscious interventions at key points, particularly between trigger and response. Techniques such as the Sacred Pause, present-moment grounding, and observer-awareness practices create space for conscious choice, allowing individuals to respond from adult resources rather than child survival strategies. This approach reframes addiction and relational compulsion not as moral failings but as unconscious attempts to manage distress, emphasizing the possibility of transformation through awareness and intentional action.
</a:t>
            </a:r>
          </a:p>
        </p:txBody>
      </p:sp>
      <p:sp>
        <p:nvSpPr>
          <p:cNvPr id="4" name="Slide Number Placeholder 3"/>
          <p:cNvSpPr>
            <a:spLocks noGrp="1"/>
          </p:cNvSpPr>
          <p:nvPr>
            <p:ph type="sldNum" sz="quarter" idx="5"/>
          </p:nvPr>
        </p:nvSpPr>
        <p:spPr/>
        <p:txBody>
          <a:bodyPr/>
          <a:lstStyle/>
          <a:p>
            <a:fld id="{CA0C8EAA-ED5A-4915-9752-BDC5427F818F}" type="slidenum">
              <a:t>5</a:t>
            </a:fld>
            <a:endParaRPr lang="en-US"/>
          </a:p>
        </p:txBody>
      </p:sp>
    </p:spTree>
    <p:extLst>
      <p:ext uri="{BB962C8B-B14F-4D97-AF65-F5344CB8AC3E}">
        <p14:creationId xmlns:p14="http://schemas.microsoft.com/office/powerpoint/2010/main" val="502965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https://trioscollege-my.sharepoint.com/personal/neil_schwab_triosstudent_com/Documents/Microsoft%20Copilot%20Chat%20Files/Conscious%20Karma%20Human%20Evolution,%20and%20the%20Path%20to%20Therapeutic%20Resolution.pdf
Structured Intervention for Conscious Transformation
</a:t>
            </a:r>
          </a:p>
        </p:txBody>
      </p:sp>
      <p:sp>
        <p:nvSpPr>
          <p:cNvPr id="4" name="Slide Number Placeholder 3"/>
          <p:cNvSpPr>
            <a:spLocks noGrp="1"/>
          </p:cNvSpPr>
          <p:nvPr>
            <p:ph type="sldNum" sz="quarter" idx="5"/>
          </p:nvPr>
        </p:nvSpPr>
        <p:spPr/>
        <p:txBody>
          <a:bodyPr/>
          <a:lstStyle/>
          <a:p>
            <a:fld id="{CA0C8EAA-ED5A-4915-9752-BDC5427F818F}" type="slidenum">
              <a:t>6</a:t>
            </a:fld>
            <a:endParaRPr lang="en-US"/>
          </a:p>
        </p:txBody>
      </p:sp>
    </p:spTree>
    <p:extLst>
      <p:ext uri="{BB962C8B-B14F-4D97-AF65-F5344CB8AC3E}">
        <p14:creationId xmlns:p14="http://schemas.microsoft.com/office/powerpoint/2010/main" val="2895745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https://trioscollege-my.sharepoint.com/personal/neil_schwab_triosstudent_com/Documents/Microsoft%20Copilot%20Chat%20Files/Conscious%20Karma%20Human%20Evolution,%20and%20the%20Path%20to%20Therapeutic%20Resolution.pdf
The Five-Step Practice provides a practical framework for interrupting unconscious patterns and fostering conscious choice. Step one, STOP, involves creating a pause to disrupt automatic momentum. Step two, BREATHE, focuses on regulating the autonomic nervous system and restoring prefrontal cortex access, which is essential for executive functioning. Step three, LISTEN, encourages individuals to connect with their authentic values and present reality rather than reacting from conditioned fear. Step four, FIND ALIGNED INTENTION, requires identifying motivations that serve others kindly and align with ethical clarity, ensuring that actions are grounded in compassion rather than reactivity. Finally, step five, ACT WITH BOUNDARIES, emphasizes taking action that respects both self and others, avoiding harm while maintaining integrity. This practice works because it engages neurological mechanisms of change: interrupting limbic reactivity, activating conscious awareness, and reinforcing new patterns through repetition. Over time, these steps build positive momentum, weaken automatic schemas, and create sustainable transformation. The Five-Step Practice is versatile, applicable in addiction recovery, relational healing, and trauma integration, making it a cornerstone of ACE-informed therapeutic interventions.
</a:t>
            </a:r>
          </a:p>
        </p:txBody>
      </p:sp>
      <p:sp>
        <p:nvSpPr>
          <p:cNvPr id="4" name="Slide Number Placeholder 3"/>
          <p:cNvSpPr>
            <a:spLocks noGrp="1"/>
          </p:cNvSpPr>
          <p:nvPr>
            <p:ph type="sldNum" sz="quarter" idx="5"/>
          </p:nvPr>
        </p:nvSpPr>
        <p:spPr/>
        <p:txBody>
          <a:bodyPr/>
          <a:lstStyle/>
          <a:p>
            <a:fld id="{CA0C8EAA-ED5A-4915-9752-BDC5427F818F}" type="slidenum">
              <a:t>7</a:t>
            </a:fld>
            <a:endParaRPr lang="en-US"/>
          </a:p>
        </p:txBody>
      </p:sp>
    </p:spTree>
    <p:extLst>
      <p:ext uri="{BB962C8B-B14F-4D97-AF65-F5344CB8AC3E}">
        <p14:creationId xmlns:p14="http://schemas.microsoft.com/office/powerpoint/2010/main" val="29379918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https://trioscollege-my.sharepoint.com/personal/neil_schwab_triosstudent_com/_layouts/15/Doc.aspx?sourcedoc=%7BDD964864-9EF5-46EF-8627-D2D0D756CC6C%7D&amp;file=AW%20THESSIS%201.docx&amp;action=default&amp;mobileredirect=true
ACE-Informed Recovery Stages
</a:t>
            </a:r>
          </a:p>
        </p:txBody>
      </p:sp>
      <p:sp>
        <p:nvSpPr>
          <p:cNvPr id="4" name="Slide Number Placeholder 3"/>
          <p:cNvSpPr>
            <a:spLocks noGrp="1"/>
          </p:cNvSpPr>
          <p:nvPr>
            <p:ph type="sldNum" sz="quarter" idx="5"/>
          </p:nvPr>
        </p:nvSpPr>
        <p:spPr/>
        <p:txBody>
          <a:bodyPr/>
          <a:lstStyle/>
          <a:p>
            <a:fld id="{CA0C8EAA-ED5A-4915-9752-BDC5427F818F}" type="slidenum">
              <a:t>8</a:t>
            </a:fld>
            <a:endParaRPr lang="en-US"/>
          </a:p>
        </p:txBody>
      </p:sp>
    </p:spTree>
    <p:extLst>
      <p:ext uri="{BB962C8B-B14F-4D97-AF65-F5344CB8AC3E}">
        <p14:creationId xmlns:p14="http://schemas.microsoft.com/office/powerpoint/2010/main" val="3344430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https://trioscollege-my.sharepoint.com/personal/neil_schwab_triosstudent_com/_layouts/15/Doc.aspx?sourcedoc=%7BDD964864-9EF5-46EF-8627-D2D0D756CC6C%7D&amp;file=AW%20THESSIS%201.docx&amp;action=default&amp;mobileredirect=true
The Phased Care Pathway offers a structured approach to ACE-informed recovery, guiding individuals through five progressive stages. Phase 1, Safety and Stabilization, focuses on nervous system regulation, environmental adjustments, and establishing therapeutic trust. Phase 2, Recognition and Understanding, introduces psychoeducation about trauma’s impact on brain and body, identifies triggers without judgment, and teaches observer consciousness. Phase 3, Processing and Integration, involves working through specific traumatic experiences, developing tolerance for difficult emotions, and practicing conscious choice-making during activation. Phase 4, Meaning and Growth, emphasizes recognizing strengths, clarifying values, and setting authentic intentions, fostering resilience and purpose. Phase 5, Service and Integration, encourages individuals to share their healing journey appropriately, maintain recovery in real-world contexts, and engage in long-term maintenance based on internal regulation. This phased model acknowledges that recovery is non-linear and individualized, requiring flexibility and readiness assessment. It integrates trauma-informed principles with consciousness-based practices, ensuring that interventions address both physiological regulation and cognitive restructuring. By combining stabilization, insight, processing, and meaning-making, the pathway provides a comprehensive roadmap for transforming ACE-driven patterns into adaptive, values-aligned living.
</a:t>
            </a:r>
          </a:p>
        </p:txBody>
      </p:sp>
      <p:sp>
        <p:nvSpPr>
          <p:cNvPr id="4" name="Slide Number Placeholder 3"/>
          <p:cNvSpPr>
            <a:spLocks noGrp="1"/>
          </p:cNvSpPr>
          <p:nvPr>
            <p:ph type="sldNum" sz="quarter" idx="5"/>
          </p:nvPr>
        </p:nvSpPr>
        <p:spPr/>
        <p:txBody>
          <a:bodyPr/>
          <a:lstStyle/>
          <a:p>
            <a:fld id="{CA0C8EAA-ED5A-4915-9752-BDC5427F818F}" type="slidenum">
              <a:t>9</a:t>
            </a:fld>
            <a:endParaRPr lang="en-US"/>
          </a:p>
        </p:txBody>
      </p:sp>
    </p:spTree>
    <p:extLst>
      <p:ext uri="{BB962C8B-B14F-4D97-AF65-F5344CB8AC3E}">
        <p14:creationId xmlns:p14="http://schemas.microsoft.com/office/powerpoint/2010/main" val="2699287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https://trioscollege-my.sharepoint.com/personal/neil_schwab_triosstudent_com/_layouts/15/Doc.aspx?sourcedoc=%7BA032B395-E276-4C92-874C-C6377A749051%7D&amp;file=somatic%20disorder%20assignment.docx&amp;action=default&amp;mobileredirect=true
Clinical Strategies for Somatic Symptom Recognition
</a:t>
            </a:r>
          </a:p>
        </p:txBody>
      </p:sp>
      <p:sp>
        <p:nvSpPr>
          <p:cNvPr id="4" name="Slide Number Placeholder 3"/>
          <p:cNvSpPr>
            <a:spLocks noGrp="1"/>
          </p:cNvSpPr>
          <p:nvPr>
            <p:ph type="sldNum" sz="quarter" idx="5"/>
          </p:nvPr>
        </p:nvSpPr>
        <p:spPr/>
        <p:txBody>
          <a:bodyPr/>
          <a:lstStyle/>
          <a:p>
            <a:fld id="{CA0C8EAA-ED5A-4915-9752-BDC5427F818F}" type="slidenum">
              <a:t>10</a:t>
            </a:fld>
            <a:endParaRPr lang="en-US"/>
          </a:p>
        </p:txBody>
      </p:sp>
    </p:spTree>
    <p:extLst>
      <p:ext uri="{BB962C8B-B14F-4D97-AF65-F5344CB8AC3E}">
        <p14:creationId xmlns:p14="http://schemas.microsoft.com/office/powerpoint/2010/main" val="3182718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https://trioscollege-my.sharepoint.com/personal/neil_schwab_triosstudent_com/_layouts/15/Doc.aspx?sourcedoc=%7BA032B395-E276-4C92-874C-C6377A749051%7D&amp;file=somatic%20disorder%20assignment.docx&amp;action=default&amp;mobileredirect=true
Somatic assessment is critical in ACE-informed care because trauma often manifests through physical symptoms that lack clear diagnostic markers. Clinicians must maintain an open, non-pathologizing stance, observing both unconscious and conscious signals. Unconscious indicators include micro-freezes, shallow breathing, gaze aversion, and gastrointestinal tension, which suggest autonomic dysregulation. Conscious signals may involve reported pain patterns, chronic fatigue, and sleep disturbances. These symptoms often reflect underlying psychological distress rather than organic pathology, making it essential to look beneath the surface for trauma-related mechanisms. Effective somatic assessment involves integrating body-first safety planning, grounding techniques, and psychoeducation to help clients understand the mind-body connection. Clinicians should avoid dismissing symptoms as imaginary while also refraining from unnecessary medicalization. Instead, they should validate the client’s experience, explore potential trauma links, and incorporate somatic regulation practices into treatment. This approach aligns with trauma-informed principles, emphasizing compassion, curiosity, and holistic care. By addressing somatic presentations alongside cognitive and emotional patterns, practitioners can create more comprehensive interventions that support nervous system regulation and overall healing.
</a:t>
            </a:r>
          </a:p>
        </p:txBody>
      </p:sp>
      <p:sp>
        <p:nvSpPr>
          <p:cNvPr id="4" name="Slide Number Placeholder 3"/>
          <p:cNvSpPr>
            <a:spLocks noGrp="1"/>
          </p:cNvSpPr>
          <p:nvPr>
            <p:ph type="sldNum" sz="quarter" idx="5"/>
          </p:nvPr>
        </p:nvSpPr>
        <p:spPr/>
        <p:txBody>
          <a:bodyPr/>
          <a:lstStyle/>
          <a:p>
            <a:fld id="{CA0C8EAA-ED5A-4915-9752-BDC5427F818F}" type="slidenum">
              <a:t>11</a:t>
            </a:fld>
            <a:endParaRPr lang="en-US"/>
          </a:p>
        </p:txBody>
      </p:sp>
    </p:spTree>
    <p:extLst>
      <p:ext uri="{BB962C8B-B14F-4D97-AF65-F5344CB8AC3E}">
        <p14:creationId xmlns:p14="http://schemas.microsoft.com/office/powerpoint/2010/main" val="27020073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9961397C-706D-4EB8-B1E1-D1B680D284C3}" type="datetime1">
              <a:rPr lang="en-US" smtClean="0"/>
              <a:t>8/22/2026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9991426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01B6F81-747A-40C6-B81B-62F051B20082}" type="datetime1">
              <a:rPr lang="en-US" smtClean="0"/>
              <a:t>8/22/2026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858086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4206" y="216426"/>
            <a:ext cx="4064673" cy="3934950"/>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2880" y="4846320"/>
            <a:ext cx="4035999" cy="1380744"/>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8705" y="6387737"/>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defRPr>
            </a:lvl1pPr>
          </a:lstStyle>
          <a:p>
            <a:fld id="{778BA358-D7E7-499C-84B9-AC14A66ED1A6}" type="datetime1">
              <a:rPr lang="en-US" smtClean="0"/>
              <a:t>8/22/2026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12" name="Picture Placeholder 11">
            <a:extLst>
              <a:ext uri="{FF2B5EF4-FFF2-40B4-BE49-F238E27FC236}">
                <a16:creationId xmlns:a16="http://schemas.microsoft.com/office/drawing/2014/main" id="{01953364-E558-970A-5425-4AFF617AEAAF}"/>
              </a:ext>
            </a:extLst>
          </p:cNvPr>
          <p:cNvSpPr>
            <a:spLocks noGrp="1"/>
          </p:cNvSpPr>
          <p:nvPr>
            <p:ph type="pic" sz="quarter" idx="13" hasCustomPrompt="1"/>
          </p:nvPr>
        </p:nvSpPr>
        <p:spPr>
          <a:xfrm>
            <a:off x="4914901" y="265176"/>
            <a:ext cx="7010400" cy="6327648"/>
          </a:xfrm>
          <a:custGeom>
            <a:avLst/>
            <a:gdLst>
              <a:gd name="connsiteX0" fmla="*/ 302565 w 7010400"/>
              <a:gd name="connsiteY0" fmla="*/ 0 h 6316602"/>
              <a:gd name="connsiteX1" fmla="*/ 6707835 w 7010400"/>
              <a:gd name="connsiteY1" fmla="*/ 0 h 6316602"/>
              <a:gd name="connsiteX2" fmla="*/ 7010400 w 7010400"/>
              <a:gd name="connsiteY2" fmla="*/ 302565 h 6316602"/>
              <a:gd name="connsiteX3" fmla="*/ 7010400 w 7010400"/>
              <a:gd name="connsiteY3" fmla="*/ 6014037 h 6316602"/>
              <a:gd name="connsiteX4" fmla="*/ 6707835 w 7010400"/>
              <a:gd name="connsiteY4" fmla="*/ 6316602 h 6316602"/>
              <a:gd name="connsiteX5" fmla="*/ 302565 w 7010400"/>
              <a:gd name="connsiteY5" fmla="*/ 6316602 h 6316602"/>
              <a:gd name="connsiteX6" fmla="*/ 0 w 7010400"/>
              <a:gd name="connsiteY6" fmla="*/ 6014037 h 6316602"/>
              <a:gd name="connsiteX7" fmla="*/ 0 w 7010400"/>
              <a:gd name="connsiteY7" fmla="*/ 302565 h 6316602"/>
              <a:gd name="connsiteX8" fmla="*/ 302565 w 7010400"/>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0400" h="6316602">
                <a:moveTo>
                  <a:pt x="302565" y="0"/>
                </a:moveTo>
                <a:lnTo>
                  <a:pt x="6707835" y="0"/>
                </a:lnTo>
                <a:cubicBezTo>
                  <a:pt x="6874937" y="0"/>
                  <a:pt x="7010400" y="135463"/>
                  <a:pt x="7010400" y="302565"/>
                </a:cubicBezTo>
                <a:lnTo>
                  <a:pt x="7010400" y="6014037"/>
                </a:lnTo>
                <a:cubicBezTo>
                  <a:pt x="7010400" y="6181139"/>
                  <a:pt x="6874937" y="6316602"/>
                  <a:pt x="6707835"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59966825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13116" y="1043184"/>
            <a:ext cx="3459903" cy="2906647"/>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13117" y="4692866"/>
            <a:ext cx="3361935"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BE8B118F-C188-2019-1C9E-6A452890CF96}"/>
              </a:ext>
            </a:extLst>
          </p:cNvPr>
          <p:cNvSpPr>
            <a:spLocks noGrp="1"/>
          </p:cNvSpPr>
          <p:nvPr>
            <p:ph type="pic" sz="quarter" idx="13" hasCustomPrompt="1"/>
          </p:nvPr>
        </p:nvSpPr>
        <p:spPr>
          <a:xfrm>
            <a:off x="0" y="0"/>
            <a:ext cx="12192000" cy="6858000"/>
          </a:xfrm>
          <a:custGeom>
            <a:avLst/>
            <a:gdLst>
              <a:gd name="connsiteX0" fmla="*/ 1124624 w 12192000"/>
              <a:gd name="connsiteY0" fmla="*/ 808189 h 6858000"/>
              <a:gd name="connsiteX1" fmla="*/ 811206 w 12192000"/>
              <a:gd name="connsiteY1" fmla="*/ 1121607 h 6858000"/>
              <a:gd name="connsiteX2" fmla="*/ 811206 w 12192000"/>
              <a:gd name="connsiteY2" fmla="*/ 5736392 h 6858000"/>
              <a:gd name="connsiteX3" fmla="*/ 1124624 w 12192000"/>
              <a:gd name="connsiteY3" fmla="*/ 6049810 h 6858000"/>
              <a:gd name="connsiteX4" fmla="*/ 4372882 w 12192000"/>
              <a:gd name="connsiteY4" fmla="*/ 6049810 h 6858000"/>
              <a:gd name="connsiteX5" fmla="*/ 4686301 w 12192000"/>
              <a:gd name="connsiteY5" fmla="*/ 5736392 h 6858000"/>
              <a:gd name="connsiteX6" fmla="*/ 4686301 w 12192000"/>
              <a:gd name="connsiteY6" fmla="*/ 1121607 h 6858000"/>
              <a:gd name="connsiteX7" fmla="*/ 4372882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124624" y="808189"/>
                </a:moveTo>
                <a:cubicBezTo>
                  <a:pt x="951528" y="808189"/>
                  <a:pt x="811206" y="948511"/>
                  <a:pt x="811206" y="1121607"/>
                </a:cubicBezTo>
                <a:lnTo>
                  <a:pt x="811206" y="5736392"/>
                </a:lnTo>
                <a:cubicBezTo>
                  <a:pt x="811206" y="5909488"/>
                  <a:pt x="951528" y="6049810"/>
                  <a:pt x="1124624" y="6049810"/>
                </a:cubicBezTo>
                <a:lnTo>
                  <a:pt x="4372882" y="6049810"/>
                </a:lnTo>
                <a:cubicBezTo>
                  <a:pt x="4545978" y="6049810"/>
                  <a:pt x="4686301" y="5909488"/>
                  <a:pt x="4686301" y="5736392"/>
                </a:cubicBezTo>
                <a:lnTo>
                  <a:pt x="4686301" y="1121607"/>
                </a:lnTo>
                <a:cubicBezTo>
                  <a:pt x="4686301" y="948511"/>
                  <a:pt x="4545978" y="808189"/>
                  <a:pt x="4372882"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33223"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EE918161-410C-495B-9D82-18B01714F0C3}" type="datetime1">
              <a:rPr lang="en-US" smtClean="0"/>
              <a:t>8/22/2026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635321667"/>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17480" y="1043185"/>
            <a:ext cx="3459903" cy="2607816"/>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17481" y="4692866"/>
            <a:ext cx="3459902"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B93E65DC-EA13-A100-8BB0-C29D33F1646A}"/>
              </a:ext>
            </a:extLst>
          </p:cNvPr>
          <p:cNvSpPr>
            <a:spLocks noGrp="1"/>
          </p:cNvSpPr>
          <p:nvPr>
            <p:ph type="pic" sz="quarter" idx="13" hasCustomPrompt="1"/>
          </p:nvPr>
        </p:nvSpPr>
        <p:spPr>
          <a:xfrm>
            <a:off x="0" y="0"/>
            <a:ext cx="12192000" cy="6858000"/>
          </a:xfrm>
          <a:custGeom>
            <a:avLst/>
            <a:gdLst>
              <a:gd name="connsiteX0" fmla="*/ 7809944 w 12192000"/>
              <a:gd name="connsiteY0" fmla="*/ 820064 h 6858000"/>
              <a:gd name="connsiteX1" fmla="*/ 7496526 w 12192000"/>
              <a:gd name="connsiteY1" fmla="*/ 1133482 h 6858000"/>
              <a:gd name="connsiteX2" fmla="*/ 7496526 w 12192000"/>
              <a:gd name="connsiteY2" fmla="*/ 5748267 h 6858000"/>
              <a:gd name="connsiteX3" fmla="*/ 7809944 w 12192000"/>
              <a:gd name="connsiteY3" fmla="*/ 6061685 h 6858000"/>
              <a:gd name="connsiteX4" fmla="*/ 11058202 w 12192000"/>
              <a:gd name="connsiteY4" fmla="*/ 6061685 h 6858000"/>
              <a:gd name="connsiteX5" fmla="*/ 11371620 w 12192000"/>
              <a:gd name="connsiteY5" fmla="*/ 5748267 h 6858000"/>
              <a:gd name="connsiteX6" fmla="*/ 11371620 w 12192000"/>
              <a:gd name="connsiteY6" fmla="*/ 1133482 h 6858000"/>
              <a:gd name="connsiteX7" fmla="*/ 11058202 w 12192000"/>
              <a:gd name="connsiteY7" fmla="*/ 820064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809944" y="820064"/>
                </a:moveTo>
                <a:cubicBezTo>
                  <a:pt x="7636848" y="820064"/>
                  <a:pt x="7496526" y="960386"/>
                  <a:pt x="7496526" y="1133482"/>
                </a:cubicBezTo>
                <a:lnTo>
                  <a:pt x="7496526" y="5748267"/>
                </a:lnTo>
                <a:cubicBezTo>
                  <a:pt x="7496526" y="5921363"/>
                  <a:pt x="7636848" y="6061685"/>
                  <a:pt x="7809944" y="6061685"/>
                </a:cubicBezTo>
                <a:lnTo>
                  <a:pt x="11058202" y="6061685"/>
                </a:lnTo>
                <a:cubicBezTo>
                  <a:pt x="11231298" y="6061685"/>
                  <a:pt x="11371620" y="5921363"/>
                  <a:pt x="11371620" y="5748267"/>
                </a:cubicBezTo>
                <a:lnTo>
                  <a:pt x="11371620" y="1133482"/>
                </a:lnTo>
                <a:cubicBezTo>
                  <a:pt x="11371620" y="960386"/>
                  <a:pt x="11231298" y="820064"/>
                  <a:pt x="11058202" y="820064"/>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505700"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03089"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9EB9C8E0-F2E5-48F5-AA1A-981B30EA19E2}" type="datetime1">
              <a:rPr lang="en-US" smtClean="0"/>
              <a:t>8/22/2026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987809"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63033818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8305" y="208156"/>
            <a:ext cx="5729095" cy="3135408"/>
          </a:xfrm>
        </p:spPr>
        <p:txBody>
          <a:bodyPr vert="horz" lIns="91440" tIns="45720" rIns="91440" bIns="45720" rtlCol="0" anchor="t">
            <a:normAutofit/>
          </a:bodyPr>
          <a:lstStyle>
            <a:lvl1pPr>
              <a:defRPr lang="en-US" sz="6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46320"/>
            <a:ext cx="4462346"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792911" y="6387128"/>
            <a:ext cx="1032084" cy="338328"/>
          </a:xfrm>
        </p:spPr>
        <p:txBody>
          <a:bodyPr/>
          <a:lstStyle>
            <a:lvl1pPr>
              <a:defRPr>
                <a:solidFill>
                  <a:schemeClr val="tx2"/>
                </a:solidFill>
                <a:effectLst/>
              </a:defRPr>
            </a:lvl1pPr>
          </a:lstStyle>
          <a:p>
            <a:fld id="{829B12D8-BAC5-43A1-A3F4-51BF1A7E7117}" type="datetime1">
              <a:rPr lang="en-US" smtClean="0"/>
              <a:t>8/22/2026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824995" y="6387128"/>
            <a:ext cx="457200" cy="338328"/>
          </a:xfrm>
        </p:spPr>
        <p:txBody>
          <a:bodyPr/>
          <a:lstStyle>
            <a:lvl1pPr>
              <a:defRPr>
                <a:solidFill>
                  <a:schemeClr val="tx2"/>
                </a:solidFill>
              </a:defRPr>
            </a:lvl1pPr>
          </a:lstStyle>
          <a:p>
            <a:fld id="{C8116806-1FD2-4A57-B5EA-7014AB76383B}" type="slidenum">
              <a:rPr lang="en-US" smtClean="0"/>
              <a:t>‹#›</a:t>
            </a:fld>
            <a:endParaRPr lang="en-US"/>
          </a:p>
        </p:txBody>
      </p:sp>
      <p:sp>
        <p:nvSpPr>
          <p:cNvPr id="9" name="Picture Placeholder 8">
            <a:extLst>
              <a:ext uri="{FF2B5EF4-FFF2-40B4-BE49-F238E27FC236}">
                <a16:creationId xmlns:a16="http://schemas.microsoft.com/office/drawing/2014/main" id="{C18560C4-8760-7FBD-159D-6CA9346253D5}"/>
              </a:ext>
            </a:extLst>
          </p:cNvPr>
          <p:cNvSpPr>
            <a:spLocks noGrp="1"/>
          </p:cNvSpPr>
          <p:nvPr>
            <p:ph type="pic" sz="quarter" idx="13" hasCustomPrompt="1"/>
          </p:nvPr>
        </p:nvSpPr>
        <p:spPr>
          <a:xfrm>
            <a:off x="7514371" y="266700"/>
            <a:ext cx="4410930" cy="6324600"/>
          </a:xfrm>
          <a:custGeom>
            <a:avLst/>
            <a:gdLst>
              <a:gd name="connsiteX0" fmla="*/ 275374 w 4410930"/>
              <a:gd name="connsiteY0" fmla="*/ 0 h 6324600"/>
              <a:gd name="connsiteX1" fmla="*/ 4135556 w 4410930"/>
              <a:gd name="connsiteY1" fmla="*/ 0 h 6324600"/>
              <a:gd name="connsiteX2" fmla="*/ 4410930 w 4410930"/>
              <a:gd name="connsiteY2" fmla="*/ 275374 h 6324600"/>
              <a:gd name="connsiteX3" fmla="*/ 4410930 w 4410930"/>
              <a:gd name="connsiteY3" fmla="*/ 6049226 h 6324600"/>
              <a:gd name="connsiteX4" fmla="*/ 4135556 w 4410930"/>
              <a:gd name="connsiteY4" fmla="*/ 6324600 h 6324600"/>
              <a:gd name="connsiteX5" fmla="*/ 275374 w 4410930"/>
              <a:gd name="connsiteY5" fmla="*/ 6324600 h 6324600"/>
              <a:gd name="connsiteX6" fmla="*/ 0 w 4410930"/>
              <a:gd name="connsiteY6" fmla="*/ 6049226 h 6324600"/>
              <a:gd name="connsiteX7" fmla="*/ 0 w 4410930"/>
              <a:gd name="connsiteY7" fmla="*/ 275374 h 6324600"/>
              <a:gd name="connsiteX8" fmla="*/ 275374 w 441093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930" h="6324600">
                <a:moveTo>
                  <a:pt x="275374" y="0"/>
                </a:moveTo>
                <a:lnTo>
                  <a:pt x="4135556" y="0"/>
                </a:lnTo>
                <a:cubicBezTo>
                  <a:pt x="4287641" y="0"/>
                  <a:pt x="4410930" y="123289"/>
                  <a:pt x="4410930" y="275374"/>
                </a:cubicBezTo>
                <a:lnTo>
                  <a:pt x="4410930" y="6049226"/>
                </a:lnTo>
                <a:cubicBezTo>
                  <a:pt x="4410930" y="6201311"/>
                  <a:pt x="4287641" y="6324600"/>
                  <a:pt x="4135556" y="6324600"/>
                </a:cubicBezTo>
                <a:lnTo>
                  <a:pt x="275374" y="6324600"/>
                </a:lnTo>
                <a:cubicBezTo>
                  <a:pt x="123289" y="6324600"/>
                  <a:pt x="0" y="6201311"/>
                  <a:pt x="0" y="6049226"/>
                </a:cubicBezTo>
                <a:lnTo>
                  <a:pt x="0" y="275374"/>
                </a:lnTo>
                <a:cubicBezTo>
                  <a:pt x="0" y="123289"/>
                  <a:pt x="123289" y="0"/>
                  <a:pt x="275374"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68830070"/>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DB19E114-DE0F-4D79-972B-16F4D1534B50}" type="datetime1">
              <a:rPr lang="en-US" smtClean="0"/>
              <a:t>8/22/2026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685074830"/>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3816" y="199795"/>
            <a:ext cx="8777428" cy="364068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98361"/>
            <a:ext cx="5675450" cy="1334847"/>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5170987F-8E30-461F-9E4C-7F5E2EE91FF0}" type="datetime1">
              <a:rPr lang="en-US" smtClean="0"/>
              <a:t>8/22/2026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12781841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54ACAC3-7932-4379-B917-F7F78C6F24BE}" type="datetime1">
              <a:rPr lang="en-US" smtClean="0"/>
              <a:t>8/22/2026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10739797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512" y="192360"/>
            <a:ext cx="11812264" cy="4157003"/>
          </a:xfrm>
        </p:spPr>
        <p:txBody>
          <a:bodyPr vert="horz" lIns="91440" tIns="45720" rIns="91440" bIns="45720" rtlCol="0" anchor="t">
            <a:normAutofit/>
          </a:bodyPr>
          <a:lstStyle>
            <a:lvl1pPr>
              <a:defRPr lang="en-US" sz="11500"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5029200"/>
            <a:ext cx="5681546" cy="1204009"/>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D520D0B-46AC-4382-A6D6-2E63B78F1E03}" type="datetime1">
              <a:rPr lang="en-US" smtClean="0"/>
              <a:t>8/22/2026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8842066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CBB9144B-27A2-4831-A05B-9434A462331E}" type="datetime1">
              <a:rPr lang="en-US" smtClean="0"/>
              <a:t>8/22/2026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18340219"/>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895950-DBB3-436C-A1DD-7D3C30A336E3}" type="datetime1">
              <a:rPr lang="en-US" smtClean="0"/>
              <a:t>8/22/2026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354370883"/>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5ECDF8E-0DD2-43D3-8D07-9F3C411EACC9}" type="datetime1">
              <a:rPr lang="en-US" smtClean="0"/>
              <a:t>8/22/2026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730278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515973" y="1010652"/>
            <a:ext cx="3437576" cy="1366457"/>
          </a:xfrm>
        </p:spPr>
        <p:txBody>
          <a:bodyPr anchor="t">
            <a:noAutofit/>
          </a:bodyPr>
          <a:lstStyle>
            <a:lvl1pPr>
              <a:defRPr sz="5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4" y="2377109"/>
            <a:ext cx="3437576" cy="3393239"/>
          </a:xfrm>
        </p:spPr>
        <p:txBody>
          <a:bodyPr vert="horz" lIns="91440" tIns="45720" rIns="91440" bIns="45720" rtlCol="0" anchor="b">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12" name="Picture Placeholder 11">
            <a:extLst>
              <a:ext uri="{FF2B5EF4-FFF2-40B4-BE49-F238E27FC236}">
                <a16:creationId xmlns:a16="http://schemas.microsoft.com/office/drawing/2014/main" id="{1739F752-D848-0871-8BE8-DE94F03F5A34}"/>
              </a:ext>
            </a:extLst>
          </p:cNvPr>
          <p:cNvSpPr>
            <a:spLocks noGrp="1"/>
          </p:cNvSpPr>
          <p:nvPr>
            <p:ph type="pic" sz="quarter" idx="14" hasCustomPrompt="1"/>
          </p:nvPr>
        </p:nvSpPr>
        <p:spPr>
          <a:xfrm>
            <a:off x="0" y="0"/>
            <a:ext cx="12192000" cy="6858000"/>
          </a:xfrm>
          <a:custGeom>
            <a:avLst/>
            <a:gdLst>
              <a:gd name="connsiteX0" fmla="*/ 7608643 w 12192000"/>
              <a:gd name="connsiteY0" fmla="*/ 808189 h 6858000"/>
              <a:gd name="connsiteX1" fmla="*/ 7295225 w 12192000"/>
              <a:gd name="connsiteY1" fmla="*/ 1121607 h 6858000"/>
              <a:gd name="connsiteX2" fmla="*/ 7295225 w 12192000"/>
              <a:gd name="connsiteY2" fmla="*/ 5736392 h 6858000"/>
              <a:gd name="connsiteX3" fmla="*/ 7608643 w 12192000"/>
              <a:gd name="connsiteY3" fmla="*/ 6049810 h 6858000"/>
              <a:gd name="connsiteX4" fmla="*/ 10856901 w 12192000"/>
              <a:gd name="connsiteY4" fmla="*/ 6049810 h 6858000"/>
              <a:gd name="connsiteX5" fmla="*/ 11170319 w 12192000"/>
              <a:gd name="connsiteY5" fmla="*/ 5736392 h 6858000"/>
              <a:gd name="connsiteX6" fmla="*/ 11170319 w 12192000"/>
              <a:gd name="connsiteY6" fmla="*/ 1121607 h 6858000"/>
              <a:gd name="connsiteX7" fmla="*/ 10856901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608643" y="808189"/>
                </a:moveTo>
                <a:cubicBezTo>
                  <a:pt x="7435547" y="808189"/>
                  <a:pt x="7295225" y="948511"/>
                  <a:pt x="7295225" y="1121607"/>
                </a:cubicBezTo>
                <a:lnTo>
                  <a:pt x="7295225" y="5736392"/>
                </a:lnTo>
                <a:cubicBezTo>
                  <a:pt x="7295225" y="5909488"/>
                  <a:pt x="7435547" y="6049810"/>
                  <a:pt x="7608643" y="6049810"/>
                </a:cubicBezTo>
                <a:lnTo>
                  <a:pt x="10856901" y="6049810"/>
                </a:lnTo>
                <a:cubicBezTo>
                  <a:pt x="11029997" y="6049810"/>
                  <a:pt x="11170319" y="5909488"/>
                  <a:pt x="11170319" y="5736392"/>
                </a:cubicBezTo>
                <a:lnTo>
                  <a:pt x="11170319" y="1121607"/>
                </a:lnTo>
                <a:cubicBezTo>
                  <a:pt x="11170319" y="948511"/>
                  <a:pt x="11029997" y="808189"/>
                  <a:pt x="10856901"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lvl1pPr>
              <a:defRPr>
                <a:solidFill>
                  <a:schemeClr val="bg2"/>
                </a:solidFill>
                <a:effectLst>
                  <a:outerShdw blurRad="38100" dist="38100" dir="2700000" algn="tl">
                    <a:srgbClr val="000000">
                      <a:alpha val="43137"/>
                    </a:srgbClr>
                  </a:outerShdw>
                </a:effectLst>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bg2"/>
                </a:solidFill>
                <a:effectLst>
                  <a:outerShdw blurRad="38100" dist="38100" dir="2700000" algn="tl">
                    <a:srgbClr val="000000">
                      <a:alpha val="43137"/>
                    </a:srgbClr>
                  </a:outerShdw>
                </a:effectLst>
              </a:defRPr>
            </a:lvl1pPr>
          </a:lstStyle>
          <a:p>
            <a:fld id="{5CAA6AFE-5243-4B4E-B26C-A6689C02EC29}" type="datetime1">
              <a:rPr lang="en-US" smtClean="0"/>
              <a:t>8/22/2026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bg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61075441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91840" y="1719072"/>
            <a:ext cx="5623560" cy="1188720"/>
          </a:xfrm>
        </p:spPr>
        <p:txBody>
          <a:bodyPr anchor="ctr">
            <a:normAutofit/>
          </a:bodyPr>
          <a:lstStyle>
            <a:lvl1pPr algn="ct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6200" y="3136392"/>
            <a:ext cx="4425696" cy="2121408"/>
          </a:xfrm>
        </p:spPr>
        <p:txBody>
          <a:bodyPr vert="horz" lIns="91440" tIns="45720" rIns="91440" bIns="45720" rtlCol="0">
            <a:normAutofit/>
          </a:bodyPr>
          <a:lstStyle>
            <a:lvl1pPr marL="0" indent="0" algn="ctr">
              <a:buNone/>
              <a:defRPr lang="en-US" dirty="0"/>
            </a:lvl1pPr>
            <a:lvl2pPr marL="228600" indent="0" algn="ctr">
              <a:buNone/>
              <a:defRPr lang="en-US" dirty="0"/>
            </a:lvl2pPr>
            <a:lvl3pPr marL="457200" indent="0" algn="ctr">
              <a:buNone/>
              <a:defRPr lang="en-US" dirty="0"/>
            </a:lvl3pPr>
            <a:lvl4pPr marL="685800" indent="0" algn="ctr">
              <a:buNone/>
              <a:defRPr lang="en-US" dirty="0"/>
            </a:lvl4pPr>
            <a:lvl5pPr marL="9144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19BC84D-3F39-4027-A7D7-7B3951112F59}" type="datetime1">
              <a:rPr lang="en-US" smtClean="0"/>
              <a:t>8/22/2026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62372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600" y="1638300"/>
            <a:ext cx="3114136" cy="379911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919472" y="1638300"/>
            <a:ext cx="4800600" cy="3799114"/>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CDA91AB-22B6-4C8F-9120-C6CEAE2E6D6E}" type="datetime1">
              <a:rPr lang="en-US" smtClean="0"/>
              <a:t>8/22/2026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145779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DEB97BB-FABD-465F-A92A-114DD4401A7A}" type="datetime1">
              <a:rPr lang="en-US" smtClean="0"/>
              <a:t>8/22/2026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2969949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296" y="990601"/>
            <a:ext cx="3168695" cy="343754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8888" y="990600"/>
            <a:ext cx="6126480" cy="51499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2A8D00A-7D56-4264-9287-3F8AAF130D23}" type="datetime1">
              <a:rPr lang="en-US" smtClean="0"/>
              <a:t>8/22/2026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589078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42A6678-B47B-4355-B5D6-D7B9669114D3}" type="datetime1">
              <a:rPr lang="en-US" smtClean="0"/>
              <a:t>8/22/2026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138627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C4801C4-BD33-47CA-B204-FEE9BA7A0B92}"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2449561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79" y="219457"/>
            <a:ext cx="6370321" cy="1008871"/>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82880" y="1228329"/>
            <a:ext cx="6370320" cy="504349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54416" y="6390795"/>
            <a:ext cx="1298784" cy="338328"/>
          </a:xfrm>
        </p:spPr>
        <p:txBody>
          <a:bodyPr/>
          <a:lstStyle/>
          <a:p>
            <a:fld id="{14BC2DE8-147F-4C22-A99D-4EAEB6D0A374}"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553200"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hasCustomPrompt="1"/>
          </p:nvPr>
        </p:nvSpPr>
        <p:spPr>
          <a:xfrm>
            <a:off x="7505700" y="266700"/>
            <a:ext cx="4419600" cy="63246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491870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7BBC631-32E9-41B5-A4D6-F9BADFAA6AF1}"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38869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A84DF367-E34D-4C28-A660-DCABBED01BCF}"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C8116806-1FD2-4A57-B5EA-7014AB76383B}" type="slidenum">
              <a:rPr lang="en-US" smtClean="0"/>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9363622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19900" y="219456"/>
            <a:ext cx="4689685" cy="1164658"/>
          </a:xfrm>
        </p:spPr>
        <p:txBody>
          <a:bodyPr anchor="t"/>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B393C6F-81AD-C678-191F-0FD783654DC1}"/>
              </a:ext>
            </a:extLst>
          </p:cNvPr>
          <p:cNvSpPr>
            <a:spLocks noGrp="1"/>
          </p:cNvSpPr>
          <p:nvPr>
            <p:ph type="pic" sz="quarter" idx="13" hasCustomPrompt="1"/>
          </p:nvPr>
        </p:nvSpPr>
        <p:spPr>
          <a:xfrm>
            <a:off x="274320" y="266700"/>
            <a:ext cx="6292984" cy="6324600"/>
          </a:xfrm>
          <a:custGeom>
            <a:avLst/>
            <a:gdLst>
              <a:gd name="connsiteX0" fmla="*/ 300805 w 6292984"/>
              <a:gd name="connsiteY0" fmla="*/ 0 h 6324600"/>
              <a:gd name="connsiteX1" fmla="*/ 5992179 w 6292984"/>
              <a:gd name="connsiteY1" fmla="*/ 0 h 6324600"/>
              <a:gd name="connsiteX2" fmla="*/ 6292984 w 6292984"/>
              <a:gd name="connsiteY2" fmla="*/ 300805 h 6324600"/>
              <a:gd name="connsiteX3" fmla="*/ 6292984 w 6292984"/>
              <a:gd name="connsiteY3" fmla="*/ 6023795 h 6324600"/>
              <a:gd name="connsiteX4" fmla="*/ 5992179 w 6292984"/>
              <a:gd name="connsiteY4" fmla="*/ 6324600 h 6324600"/>
              <a:gd name="connsiteX5" fmla="*/ 300805 w 6292984"/>
              <a:gd name="connsiteY5" fmla="*/ 6324600 h 6324600"/>
              <a:gd name="connsiteX6" fmla="*/ 0 w 6292984"/>
              <a:gd name="connsiteY6" fmla="*/ 6023795 h 6324600"/>
              <a:gd name="connsiteX7" fmla="*/ 0 w 6292984"/>
              <a:gd name="connsiteY7" fmla="*/ 300805 h 6324600"/>
              <a:gd name="connsiteX8" fmla="*/ 300805 w 6292984"/>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92984" h="6324600">
                <a:moveTo>
                  <a:pt x="300805" y="0"/>
                </a:moveTo>
                <a:lnTo>
                  <a:pt x="5992179" y="0"/>
                </a:lnTo>
                <a:cubicBezTo>
                  <a:pt x="6158309" y="0"/>
                  <a:pt x="6292984" y="134675"/>
                  <a:pt x="6292984" y="300805"/>
                </a:cubicBezTo>
                <a:lnTo>
                  <a:pt x="6292984" y="6023795"/>
                </a:lnTo>
                <a:cubicBezTo>
                  <a:pt x="6292984" y="6189925"/>
                  <a:pt x="6158309" y="6324600"/>
                  <a:pt x="5992179" y="6324600"/>
                </a:cubicBezTo>
                <a:lnTo>
                  <a:pt x="300805" y="6324600"/>
                </a:lnTo>
                <a:cubicBezTo>
                  <a:pt x="134675" y="6324600"/>
                  <a:pt x="0" y="6189925"/>
                  <a:pt x="0" y="6023795"/>
                </a:cubicBezTo>
                <a:lnTo>
                  <a:pt x="0" y="300805"/>
                </a:lnTo>
                <a:cubicBezTo>
                  <a:pt x="0" y="134675"/>
                  <a:pt x="134675" y="0"/>
                  <a:pt x="30080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19900" y="1378227"/>
            <a:ext cx="4689684" cy="488898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819900" y="6387737"/>
            <a:ext cx="29704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0FFB8A6-6C87-4FAE-893A-7B00285062B3}"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831349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5489A3B8-AADB-439D-85B5-E9ACAFD37972}"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98384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2941319" cy="308863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2114" y="220869"/>
            <a:ext cx="4594371" cy="616625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658174" y="6387128"/>
            <a:ext cx="1032084" cy="338328"/>
          </a:xfrm>
        </p:spPr>
        <p:txBody>
          <a:bodyPr/>
          <a:lstStyle/>
          <a:p>
            <a:fld id="{DF254B70-5EAB-445B-A3CD-C14D0B8ACD0C}"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690258"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8534400" y="269080"/>
            <a:ext cx="3390900" cy="6327648"/>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2764471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4C28399-DE27-4A8B-8419-0512D16F4926}"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2337240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9F43114-67DF-4FA3-9285-385EAC7FCBCA}"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9810393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6" y="219457"/>
            <a:ext cx="4026915" cy="130353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522992"/>
            <a:ext cx="4026916" cy="474882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199660" y="6387128"/>
            <a:ext cx="1032084" cy="338328"/>
          </a:xfrm>
        </p:spPr>
        <p:txBody>
          <a:bodyPr/>
          <a:lstStyle/>
          <a:p>
            <a:fld id="{1217BF59-E0D5-409C-8A6B-0F803A4B6315}"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231744" y="6387128"/>
            <a:ext cx="457200" cy="338328"/>
          </a:xfrm>
        </p:spPr>
        <p:txBody>
          <a:bodyPr/>
          <a:lstStyle>
            <a:lvl1pPr>
              <a:defRPr>
                <a:solidFill>
                  <a:schemeClr val="tx1"/>
                </a:solidFill>
                <a:effectLst/>
              </a:defRPr>
            </a:lvl1p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4914900" y="265943"/>
            <a:ext cx="7010400" cy="6325357"/>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0868654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59071" y="219456"/>
            <a:ext cx="3162300" cy="1849198"/>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C1BE581-FB1F-EE1A-8946-9FA6FC25C11B}"/>
              </a:ext>
            </a:extLst>
          </p:cNvPr>
          <p:cNvSpPr>
            <a:spLocks noGrp="1"/>
          </p:cNvSpPr>
          <p:nvPr>
            <p:ph type="pic" sz="quarter" idx="13" hasCustomPrompt="1"/>
          </p:nvPr>
        </p:nvSpPr>
        <p:spPr>
          <a:xfrm>
            <a:off x="274320" y="266700"/>
            <a:ext cx="7924800" cy="6324600"/>
          </a:xfrm>
          <a:custGeom>
            <a:avLst/>
            <a:gdLst>
              <a:gd name="connsiteX0" fmla="*/ 293082 w 7924800"/>
              <a:gd name="connsiteY0" fmla="*/ 0 h 6324600"/>
              <a:gd name="connsiteX1" fmla="*/ 7631718 w 7924800"/>
              <a:gd name="connsiteY1" fmla="*/ 0 h 6324600"/>
              <a:gd name="connsiteX2" fmla="*/ 7924800 w 7924800"/>
              <a:gd name="connsiteY2" fmla="*/ 293082 h 6324600"/>
              <a:gd name="connsiteX3" fmla="*/ 7924800 w 7924800"/>
              <a:gd name="connsiteY3" fmla="*/ 6031518 h 6324600"/>
              <a:gd name="connsiteX4" fmla="*/ 7631718 w 7924800"/>
              <a:gd name="connsiteY4" fmla="*/ 6324600 h 6324600"/>
              <a:gd name="connsiteX5" fmla="*/ 293082 w 7924800"/>
              <a:gd name="connsiteY5" fmla="*/ 6324600 h 6324600"/>
              <a:gd name="connsiteX6" fmla="*/ 0 w 7924800"/>
              <a:gd name="connsiteY6" fmla="*/ 6031518 h 6324600"/>
              <a:gd name="connsiteX7" fmla="*/ 0 w 7924800"/>
              <a:gd name="connsiteY7" fmla="*/ 293082 h 6324600"/>
              <a:gd name="connsiteX8" fmla="*/ 293082 w 792480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24800" h="6324600">
                <a:moveTo>
                  <a:pt x="293082" y="0"/>
                </a:moveTo>
                <a:lnTo>
                  <a:pt x="7631718" y="0"/>
                </a:lnTo>
                <a:cubicBezTo>
                  <a:pt x="7793583" y="0"/>
                  <a:pt x="7924800" y="131217"/>
                  <a:pt x="7924800" y="293082"/>
                </a:cubicBezTo>
                <a:lnTo>
                  <a:pt x="7924800" y="6031518"/>
                </a:lnTo>
                <a:cubicBezTo>
                  <a:pt x="7924800" y="6193383"/>
                  <a:pt x="7793583" y="6324600"/>
                  <a:pt x="7631718" y="6324600"/>
                </a:cubicBezTo>
                <a:lnTo>
                  <a:pt x="293082" y="6324600"/>
                </a:lnTo>
                <a:cubicBezTo>
                  <a:pt x="131217" y="6324600"/>
                  <a:pt x="0" y="6193383"/>
                  <a:pt x="0" y="6031518"/>
                </a:cubicBezTo>
                <a:lnTo>
                  <a:pt x="0" y="293082"/>
                </a:lnTo>
                <a:cubicBezTo>
                  <a:pt x="0" y="131217"/>
                  <a:pt x="131217" y="0"/>
                  <a:pt x="29308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459071" y="2111514"/>
            <a:ext cx="3162300" cy="415800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59072" y="6387737"/>
            <a:ext cx="1983112"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477500" y="6390795"/>
            <a:ext cx="1032084" cy="338328"/>
          </a:xfrm>
        </p:spPr>
        <p:txBody>
          <a:bodyPr/>
          <a:lstStyle>
            <a:lvl1pPr>
              <a:defRPr>
                <a:solidFill>
                  <a:schemeClr val="tx1"/>
                </a:solidFill>
                <a:effectLst/>
              </a:defRPr>
            </a:lvl1pPr>
          </a:lstStyle>
          <a:p>
            <a:fld id="{6AC6ED7C-CAEB-4C33-83BF-788B8A76A11C}"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9592928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BB0B5C10-8896-4A25-9ADC-0DE16BEA40F9}"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C8116806-1FD2-4A57-B5EA-7014AB76383B}" type="slidenum">
              <a:rPr lang="en-US" smtClean="0"/>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0143775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252434" y="219456"/>
            <a:ext cx="2504499" cy="2282204"/>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0245013D-3ACD-0E69-50DF-0B7C6855E765}"/>
              </a:ext>
            </a:extLst>
          </p:cNvPr>
          <p:cNvSpPr>
            <a:spLocks noGrp="1"/>
          </p:cNvSpPr>
          <p:nvPr>
            <p:ph type="pic" sz="quarter" idx="13" hasCustomPrompt="1"/>
          </p:nvPr>
        </p:nvSpPr>
        <p:spPr>
          <a:xfrm>
            <a:off x="274220" y="266700"/>
            <a:ext cx="8782316" cy="6324600"/>
          </a:xfrm>
          <a:custGeom>
            <a:avLst/>
            <a:gdLst>
              <a:gd name="connsiteX0" fmla="*/ 293967 w 8782316"/>
              <a:gd name="connsiteY0" fmla="*/ 0 h 6324600"/>
              <a:gd name="connsiteX1" fmla="*/ 8488349 w 8782316"/>
              <a:gd name="connsiteY1" fmla="*/ 0 h 6324600"/>
              <a:gd name="connsiteX2" fmla="*/ 8782316 w 8782316"/>
              <a:gd name="connsiteY2" fmla="*/ 293967 h 6324600"/>
              <a:gd name="connsiteX3" fmla="*/ 8782316 w 8782316"/>
              <a:gd name="connsiteY3" fmla="*/ 6030633 h 6324600"/>
              <a:gd name="connsiteX4" fmla="*/ 8488349 w 8782316"/>
              <a:gd name="connsiteY4" fmla="*/ 6324600 h 6324600"/>
              <a:gd name="connsiteX5" fmla="*/ 293967 w 8782316"/>
              <a:gd name="connsiteY5" fmla="*/ 6324600 h 6324600"/>
              <a:gd name="connsiteX6" fmla="*/ 0 w 8782316"/>
              <a:gd name="connsiteY6" fmla="*/ 6030633 h 6324600"/>
              <a:gd name="connsiteX7" fmla="*/ 0 w 8782316"/>
              <a:gd name="connsiteY7" fmla="*/ 293967 h 6324600"/>
              <a:gd name="connsiteX8" fmla="*/ 293967 w 8782316"/>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82316" h="6324600">
                <a:moveTo>
                  <a:pt x="293967" y="0"/>
                </a:moveTo>
                <a:lnTo>
                  <a:pt x="8488349" y="0"/>
                </a:lnTo>
                <a:cubicBezTo>
                  <a:pt x="8650702" y="0"/>
                  <a:pt x="8782316" y="131614"/>
                  <a:pt x="8782316" y="293967"/>
                </a:cubicBezTo>
                <a:lnTo>
                  <a:pt x="8782316" y="6030633"/>
                </a:lnTo>
                <a:cubicBezTo>
                  <a:pt x="8782316" y="6192986"/>
                  <a:pt x="8650702" y="6324600"/>
                  <a:pt x="8488349" y="6324600"/>
                </a:cubicBezTo>
                <a:lnTo>
                  <a:pt x="293967" y="6324600"/>
                </a:lnTo>
                <a:cubicBezTo>
                  <a:pt x="131614" y="6324600"/>
                  <a:pt x="0" y="6192986"/>
                  <a:pt x="0" y="6030633"/>
                </a:cubicBezTo>
                <a:lnTo>
                  <a:pt x="0" y="293967"/>
                </a:lnTo>
                <a:cubicBezTo>
                  <a:pt x="0" y="131614"/>
                  <a:pt x="131614" y="0"/>
                  <a:pt x="293967"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9262115" y="3001992"/>
            <a:ext cx="2494818" cy="3299767"/>
          </a:xfrm>
        </p:spPr>
        <p:txBody>
          <a:bodyPr anchor="b">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259368" y="6387737"/>
            <a:ext cx="131540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564498" y="6390795"/>
            <a:ext cx="1007658" cy="338328"/>
          </a:xfrm>
        </p:spPr>
        <p:txBody>
          <a:bodyPr/>
          <a:lstStyle>
            <a:lvl1pPr>
              <a:defRPr>
                <a:solidFill>
                  <a:schemeClr val="tx1"/>
                </a:solidFill>
                <a:effectLst/>
              </a:defRPr>
            </a:lvl1pPr>
          </a:lstStyle>
          <a:p>
            <a:fld id="{77A7F542-C964-486E-82FB-259D80A22E0C}"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075268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1878" y="5322914"/>
            <a:ext cx="4466322" cy="1064214"/>
          </a:xfrm>
        </p:spPr>
        <p:txBody>
          <a:bodyPr anchor="t">
            <a:normAutofit/>
          </a:bodyPr>
          <a:lstStyle>
            <a:lvl1pPr>
              <a:defRPr sz="3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61800625-21B7-D3E3-63A2-DDD86082593E}"/>
              </a:ext>
            </a:extLst>
          </p:cNvPr>
          <p:cNvSpPr>
            <a:spLocks noGrp="1"/>
          </p:cNvSpPr>
          <p:nvPr>
            <p:ph type="pic" sz="quarter" idx="15" hasCustomPrompt="1"/>
          </p:nvPr>
        </p:nvSpPr>
        <p:spPr>
          <a:xfrm>
            <a:off x="274220" y="265176"/>
            <a:ext cx="11651080"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14900" y="5283156"/>
            <a:ext cx="7010400" cy="1103972"/>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200"/>
            </a:lvl3pPr>
            <a:lvl4pPr marL="685800" indent="0">
              <a:buFont typeface="Arial" panose="020B0604020202020204" pitchFamily="34" charset="0"/>
              <a:buNone/>
              <a:defRPr sz="1200"/>
            </a:lvl4pPr>
            <a:lvl5pPr marL="914400" indent="0">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79A6D22-E558-45A5-AFFE-4CB08C13E909}"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0123967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3994637"/>
            <a:ext cx="3460316" cy="1986345"/>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9A350D79-60BC-073C-3EE9-FEF237EFFC3B}"/>
              </a:ext>
            </a:extLst>
          </p:cNvPr>
          <p:cNvSpPr>
            <a:spLocks noGrp="1"/>
          </p:cNvSpPr>
          <p:nvPr>
            <p:ph type="pic" sz="quarter" idx="13" hasCustomPrompt="1"/>
          </p:nvPr>
        </p:nvSpPr>
        <p:spPr>
          <a:xfrm>
            <a:off x="274220" y="266700"/>
            <a:ext cx="11651080" cy="3511571"/>
          </a:xfrm>
          <a:custGeom>
            <a:avLst/>
            <a:gdLst>
              <a:gd name="connsiteX0" fmla="*/ 293181 w 11651080"/>
              <a:gd name="connsiteY0" fmla="*/ 0 h 3511571"/>
              <a:gd name="connsiteX1" fmla="*/ 11357899 w 11651080"/>
              <a:gd name="connsiteY1" fmla="*/ 0 h 3511571"/>
              <a:gd name="connsiteX2" fmla="*/ 11651080 w 11651080"/>
              <a:gd name="connsiteY2" fmla="*/ 293181 h 3511571"/>
              <a:gd name="connsiteX3" fmla="*/ 11651080 w 11651080"/>
              <a:gd name="connsiteY3" fmla="*/ 3218390 h 3511571"/>
              <a:gd name="connsiteX4" fmla="*/ 11521819 w 11651080"/>
              <a:gd name="connsiteY4" fmla="*/ 3461500 h 3511571"/>
              <a:gd name="connsiteX5" fmla="*/ 11477449 w 11651080"/>
              <a:gd name="connsiteY5" fmla="*/ 3485583 h 3511571"/>
              <a:gd name="connsiteX6" fmla="*/ 11417209 w 11651080"/>
              <a:gd name="connsiteY6" fmla="*/ 3504280 h 3511571"/>
              <a:gd name="connsiteX7" fmla="*/ 11344868 w 11651080"/>
              <a:gd name="connsiteY7" fmla="*/ 3511571 h 3511571"/>
              <a:gd name="connsiteX8" fmla="*/ 310043 w 11651080"/>
              <a:gd name="connsiteY8" fmla="*/ 3511571 h 3511571"/>
              <a:gd name="connsiteX9" fmla="*/ 170323 w 11651080"/>
              <a:gd name="connsiteY9" fmla="*/ 3483368 h 3511571"/>
              <a:gd name="connsiteX10" fmla="*/ 127787 w 11651080"/>
              <a:gd name="connsiteY10" fmla="*/ 3460284 h 3511571"/>
              <a:gd name="connsiteX11" fmla="*/ 85871 w 11651080"/>
              <a:gd name="connsiteY11" fmla="*/ 3425700 h 3511571"/>
              <a:gd name="connsiteX12" fmla="*/ 0 w 11651080"/>
              <a:gd name="connsiteY12" fmla="*/ 3218390 h 3511571"/>
              <a:gd name="connsiteX13" fmla="*/ 0 w 11651080"/>
              <a:gd name="connsiteY13" fmla="*/ 293181 h 3511571"/>
              <a:gd name="connsiteX14" fmla="*/ 293181 w 11651080"/>
              <a:gd name="connsiteY14" fmla="*/ 0 h 351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51080" h="3511571">
                <a:moveTo>
                  <a:pt x="293181" y="0"/>
                </a:moveTo>
                <a:lnTo>
                  <a:pt x="11357899" y="0"/>
                </a:lnTo>
                <a:cubicBezTo>
                  <a:pt x="11519818" y="0"/>
                  <a:pt x="11651080" y="131262"/>
                  <a:pt x="11651080" y="293181"/>
                </a:cubicBezTo>
                <a:lnTo>
                  <a:pt x="11651080" y="3218390"/>
                </a:lnTo>
                <a:cubicBezTo>
                  <a:pt x="11651080" y="3319589"/>
                  <a:pt x="11599806" y="3408813"/>
                  <a:pt x="11521819" y="3461500"/>
                </a:cubicBezTo>
                <a:lnTo>
                  <a:pt x="11477449" y="3485583"/>
                </a:lnTo>
                <a:lnTo>
                  <a:pt x="11417209" y="3504280"/>
                </a:lnTo>
                <a:cubicBezTo>
                  <a:pt x="11393842" y="3509060"/>
                  <a:pt x="11369648" y="3511571"/>
                  <a:pt x="11344868" y="3511571"/>
                </a:cubicBezTo>
                <a:lnTo>
                  <a:pt x="310043" y="3511571"/>
                </a:lnTo>
                <a:cubicBezTo>
                  <a:pt x="260482" y="3511571"/>
                  <a:pt x="213267" y="3501529"/>
                  <a:pt x="170323" y="3483368"/>
                </a:cubicBezTo>
                <a:lnTo>
                  <a:pt x="127787" y="3460284"/>
                </a:lnTo>
                <a:lnTo>
                  <a:pt x="85871" y="3425700"/>
                </a:lnTo>
                <a:cubicBezTo>
                  <a:pt x="32816" y="3372645"/>
                  <a:pt x="0" y="3299350"/>
                  <a:pt x="0" y="3218390"/>
                </a:cubicBezTo>
                <a:lnTo>
                  <a:pt x="0" y="293181"/>
                </a:lnTo>
                <a:cubicBezTo>
                  <a:pt x="0" y="131262"/>
                  <a:pt x="131262" y="0"/>
                  <a:pt x="29318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3977466"/>
            <a:ext cx="7962900" cy="22860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54360EB-95BF-4987-BAEE-E7CA2491C2B2}"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3957211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70D4BFA2-1BB9-40F7-B5CD-27AF3FC15B4F}"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C8116806-1FD2-4A57-B5EA-7014AB76383B}" type="slidenum">
              <a:rPr lang="en-US" smtClean="0"/>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5939369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67689" y="1277917"/>
            <a:ext cx="4244590" cy="1054449"/>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6A6D8C26-0B2C-F81E-0E9B-25818527E0CD}"/>
              </a:ext>
            </a:extLst>
          </p:cNvPr>
          <p:cNvSpPr>
            <a:spLocks noGrp="1"/>
          </p:cNvSpPr>
          <p:nvPr>
            <p:ph type="pic" sz="quarter" idx="13" hasCustomPrompt="1"/>
          </p:nvPr>
        </p:nvSpPr>
        <p:spPr>
          <a:xfrm>
            <a:off x="1371601" y="2391930"/>
            <a:ext cx="4140679" cy="3094471"/>
          </a:xfrm>
          <a:custGeom>
            <a:avLst/>
            <a:gdLst>
              <a:gd name="connsiteX0" fmla="*/ 287879 w 4140679"/>
              <a:gd name="connsiteY0" fmla="*/ 0 h 3094471"/>
              <a:gd name="connsiteX1" fmla="*/ 3852800 w 4140679"/>
              <a:gd name="connsiteY1" fmla="*/ 0 h 3094471"/>
              <a:gd name="connsiteX2" fmla="*/ 4140679 w 4140679"/>
              <a:gd name="connsiteY2" fmla="*/ 287879 h 3094471"/>
              <a:gd name="connsiteX3" fmla="*/ 4140679 w 4140679"/>
              <a:gd name="connsiteY3" fmla="*/ 2806592 h 3094471"/>
              <a:gd name="connsiteX4" fmla="*/ 3852800 w 4140679"/>
              <a:gd name="connsiteY4" fmla="*/ 3094471 h 3094471"/>
              <a:gd name="connsiteX5" fmla="*/ 287879 w 4140679"/>
              <a:gd name="connsiteY5" fmla="*/ 3094471 h 3094471"/>
              <a:gd name="connsiteX6" fmla="*/ 0 w 4140679"/>
              <a:gd name="connsiteY6" fmla="*/ 2806592 h 3094471"/>
              <a:gd name="connsiteX7" fmla="*/ 0 w 4140679"/>
              <a:gd name="connsiteY7" fmla="*/ 287879 h 3094471"/>
              <a:gd name="connsiteX8" fmla="*/ 287879 w 4140679"/>
              <a:gd name="connsiteY8" fmla="*/ 0 h 309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0679" h="3094471">
                <a:moveTo>
                  <a:pt x="287879" y="0"/>
                </a:moveTo>
                <a:lnTo>
                  <a:pt x="3852800" y="0"/>
                </a:lnTo>
                <a:cubicBezTo>
                  <a:pt x="4011791" y="0"/>
                  <a:pt x="4140679" y="128888"/>
                  <a:pt x="4140679" y="287879"/>
                </a:cubicBezTo>
                <a:lnTo>
                  <a:pt x="4140679" y="2806592"/>
                </a:lnTo>
                <a:cubicBezTo>
                  <a:pt x="4140679" y="2965583"/>
                  <a:pt x="4011791" y="3094471"/>
                  <a:pt x="3852800" y="3094471"/>
                </a:cubicBezTo>
                <a:lnTo>
                  <a:pt x="287879" y="3094471"/>
                </a:lnTo>
                <a:cubicBezTo>
                  <a:pt x="128888" y="3094471"/>
                  <a:pt x="0" y="2965583"/>
                  <a:pt x="0" y="2806592"/>
                </a:cubicBezTo>
                <a:lnTo>
                  <a:pt x="0" y="287879"/>
                </a:lnTo>
                <a:cubicBezTo>
                  <a:pt x="0" y="128888"/>
                  <a:pt x="128888" y="0"/>
                  <a:pt x="2878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867400" y="1277917"/>
            <a:ext cx="4953000" cy="42084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4B2A89B-6654-46B7-8BAD-422EA50F4994}"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35143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90CB68-2046-4562-B6CE-CDFAB3DC51F3}"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728631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5158596"/>
            <a:ext cx="4207160" cy="1216328"/>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43EBFFFF-5D16-BE62-1AAA-3F8F77B6C10A}"/>
              </a:ext>
            </a:extLst>
          </p:cNvPr>
          <p:cNvSpPr>
            <a:spLocks noGrp="1"/>
          </p:cNvSpPr>
          <p:nvPr>
            <p:ph type="pic" sz="quarter" idx="13" hasCustomPrompt="1"/>
          </p:nvPr>
        </p:nvSpPr>
        <p:spPr>
          <a:xfrm>
            <a:off x="271305" y="265176"/>
            <a:ext cx="4118735" cy="4577087"/>
          </a:xfrm>
          <a:custGeom>
            <a:avLst/>
            <a:gdLst>
              <a:gd name="connsiteX0" fmla="*/ 302192 w 4118735"/>
              <a:gd name="connsiteY0" fmla="*/ 0 h 4577087"/>
              <a:gd name="connsiteX1" fmla="*/ 3816543 w 4118735"/>
              <a:gd name="connsiteY1" fmla="*/ 0 h 4577087"/>
              <a:gd name="connsiteX2" fmla="*/ 4118735 w 4118735"/>
              <a:gd name="connsiteY2" fmla="*/ 302192 h 4577087"/>
              <a:gd name="connsiteX3" fmla="*/ 4118735 w 4118735"/>
              <a:gd name="connsiteY3" fmla="*/ 4274895 h 4577087"/>
              <a:gd name="connsiteX4" fmla="*/ 3816543 w 4118735"/>
              <a:gd name="connsiteY4" fmla="*/ 4577087 h 4577087"/>
              <a:gd name="connsiteX5" fmla="*/ 302192 w 4118735"/>
              <a:gd name="connsiteY5" fmla="*/ 4577087 h 4577087"/>
              <a:gd name="connsiteX6" fmla="*/ 0 w 4118735"/>
              <a:gd name="connsiteY6" fmla="*/ 4274895 h 4577087"/>
              <a:gd name="connsiteX7" fmla="*/ 0 w 4118735"/>
              <a:gd name="connsiteY7" fmla="*/ 302192 h 4577087"/>
              <a:gd name="connsiteX8" fmla="*/ 302192 w 4118735"/>
              <a:gd name="connsiteY8" fmla="*/ 0 h 4577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8735" h="4577087">
                <a:moveTo>
                  <a:pt x="302192" y="0"/>
                </a:moveTo>
                <a:lnTo>
                  <a:pt x="3816543" y="0"/>
                </a:lnTo>
                <a:cubicBezTo>
                  <a:pt x="3983439" y="0"/>
                  <a:pt x="4118735" y="135296"/>
                  <a:pt x="4118735" y="302192"/>
                </a:cubicBezTo>
                <a:lnTo>
                  <a:pt x="4118735" y="4274895"/>
                </a:lnTo>
                <a:cubicBezTo>
                  <a:pt x="4118735" y="4441791"/>
                  <a:pt x="3983439" y="4577087"/>
                  <a:pt x="3816543" y="4577087"/>
                </a:cubicBezTo>
                <a:lnTo>
                  <a:pt x="302192" y="4577087"/>
                </a:lnTo>
                <a:cubicBezTo>
                  <a:pt x="135296" y="4577087"/>
                  <a:pt x="0" y="4441791"/>
                  <a:pt x="0" y="4274895"/>
                </a:cubicBezTo>
                <a:lnTo>
                  <a:pt x="0" y="302192"/>
                </a:lnTo>
                <a:cubicBezTo>
                  <a:pt x="0" y="135296"/>
                  <a:pt x="135296" y="0"/>
                  <a:pt x="30219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4900" y="296685"/>
            <a:ext cx="6720870" cy="6075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5A882899-F271-47EA-805D-B8A33B6837B1}"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711675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E24BB35E-97D9-4AD8-9F03-F1A28F5EDD3F}" type="datetime1">
              <a:rPr lang="en-US" smtClean="0"/>
              <a:t>8/22/2026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4344109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620201" y="606392"/>
            <a:ext cx="10946701" cy="4619890"/>
          </a:xfrm>
          <a:prstGeom prst="roundRect">
            <a:avLst>
              <a:gd name="adj" fmla="val 6476"/>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26282"/>
            <a:ext cx="9299448" cy="1025326"/>
          </a:xfrm>
        </p:spPr>
        <p:txBody>
          <a:bodyPr anchor="ctr">
            <a:normAutofit/>
          </a:bodyPr>
          <a:lstStyle>
            <a:lvl1pPr algn="ctr">
              <a:lnSpc>
                <a:spcPct val="90000"/>
              </a:lnSpc>
              <a:defRPr sz="2400" spc="-50"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2"/>
            <a:ext cx="9299448" cy="3700734"/>
          </a:xfrm>
        </p:spPr>
        <p:txBody>
          <a:bodyPr anchor="ctr">
            <a:normAutofit/>
          </a:bodyPr>
          <a:lstStyle>
            <a:lvl1pPr marL="0" indent="0" algn="ctr">
              <a:lnSpc>
                <a:spcPct val="80000"/>
              </a:lnSpc>
              <a:buNone/>
              <a:defRPr sz="26000" spc="-100" baseline="0">
                <a:solidFill>
                  <a:schemeClr val="tx2"/>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5950FD3-961F-4360-ADC7-0E23C6F50835}" type="datetime1">
              <a:rPr lang="en-US" smtClean="0"/>
              <a:t>8/22/2026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138315228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F526C722-3701-B2F2-EF11-4B756E05446F}"/>
              </a:ext>
              <a:ext uri="{C183D7F6-B498-43B3-948B-1728B52AA6E4}">
                <adec:decorative xmlns:adec="http://schemas.microsoft.com/office/drawing/2017/decorative" val="1"/>
              </a:ext>
            </a:extLst>
          </p:cNvPr>
          <p:cNvSpPr/>
          <p:nvPr/>
        </p:nvSpPr>
        <p:spPr>
          <a:xfrm>
            <a:off x="660344" y="4990975"/>
            <a:ext cx="10871313" cy="1239913"/>
          </a:xfrm>
          <a:prstGeom prst="roundRect">
            <a:avLst>
              <a:gd name="adj" fmla="val 2206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040433" y="5233065"/>
            <a:ext cx="10111135" cy="777037"/>
          </a:xfrm>
        </p:spPr>
        <p:txBody>
          <a:bodyPr anchor="ctr">
            <a:normAutofit/>
          </a:bodyPr>
          <a:lstStyle>
            <a:lvl1pPr algn="ctr">
              <a:lnSpc>
                <a:spcPct val="90000"/>
              </a:lnSpc>
              <a:defRPr sz="2000" spc="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0A28C6D7-91AB-4E5C-91FE-81F7E83AF2F7}" type="datetime1">
              <a:rPr lang="en-US" smtClean="0"/>
              <a:t>8/22/2026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160064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E8549AC-D930-32F5-F4D6-1BE34C7228FE}"/>
              </a:ext>
              <a:ext uri="{C183D7F6-B498-43B3-948B-1728B52AA6E4}">
                <adec:decorative xmlns:adec="http://schemas.microsoft.com/office/drawing/2017/decorative" val="1"/>
              </a:ext>
            </a:extLst>
          </p:cNvPr>
          <p:cNvSpPr/>
          <p:nvPr/>
        </p:nvSpPr>
        <p:spPr>
          <a:xfrm>
            <a:off x="1590501" y="4989874"/>
            <a:ext cx="9010999" cy="1239913"/>
          </a:xfrm>
          <a:prstGeom prst="roundRect">
            <a:avLst>
              <a:gd name="adj" fmla="val 24326"/>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982064" y="5147215"/>
            <a:ext cx="8227873" cy="912763"/>
          </a:xfrm>
        </p:spPr>
        <p:txBody>
          <a:bodyPr anchor="ctr">
            <a:normAutofit/>
          </a:bodyPr>
          <a:lstStyle>
            <a:lvl1pPr algn="ctr">
              <a:lnSpc>
                <a:spcPct val="100000"/>
              </a:lnSpc>
              <a:defRPr sz="2300" spc="-50"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2"/>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DFF620F-79DC-465D-A792-79BFC5D42082}" type="datetime1">
              <a:rPr lang="en-US" smtClean="0"/>
              <a:t>8/22/2026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1579708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224884" y="5144654"/>
            <a:ext cx="7280816" cy="1242473"/>
          </a:xfrm>
        </p:spPr>
        <p:txBody>
          <a:bodyPr vert="horz" lIns="91440" tIns="45720" rIns="91440" bIns="45720" rtlCol="0" anchor="t">
            <a:normAutofit/>
          </a:bodyPr>
          <a:lstStyle>
            <a:lvl1pPr>
              <a:lnSpc>
                <a:spcPct val="100000"/>
              </a:lnSpc>
              <a:defRPr lang="en-US" sz="2800" spc="-50" baseline="0" dirty="0">
                <a:solidFill>
                  <a:schemeClr val="tx2"/>
                </a:solidFill>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84720" y="266700"/>
            <a:ext cx="11740580" cy="5349003"/>
          </a:xfrm>
        </p:spPr>
        <p:txBody>
          <a:bodyPr vert="horz" lIns="91440" tIns="45720" rIns="91440" bIns="45720" rtlCol="0" anchor="b">
            <a:noAutofit/>
          </a:bodyPr>
          <a:lstStyle>
            <a:lvl1pPr marL="0" indent="0">
              <a:lnSpc>
                <a:spcPct val="90000"/>
              </a:lnSpc>
              <a:spcBef>
                <a:spcPts val="0"/>
              </a:spcBef>
              <a:buNone/>
              <a:defRPr lang="en-US" sz="33000" spc="-100" baseline="0" dirty="0">
                <a:solidFill>
                  <a:schemeClr val="accent1">
                    <a:lumMod val="60000"/>
                    <a:lumOff val="40000"/>
                    <a:alpha val="50000"/>
                  </a:schemeClr>
                </a:solidFill>
              </a:defRPr>
            </a:lvl1pPr>
          </a:lstStyle>
          <a:p>
            <a:pPr lvl="0"/>
            <a:r>
              <a:rPr lang="en-US" dirty="0"/>
              <a:t>##%</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FD30CB8E-A3C7-445E-9FD2-AB4831E86419}" type="datetime1">
              <a:rPr lang="en-US" smtClean="0"/>
              <a:t>8/22/2026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8279621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60FC429-4D23-430E-9EDF-7373AE75BFEE}" type="datetime1">
              <a:rPr lang="en-US" smtClean="0"/>
              <a:t>8/22/2026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4043005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1638300"/>
            <a:ext cx="10652760" cy="4748828"/>
          </a:xfrm>
        </p:spPr>
        <p:txBody>
          <a:bodyPr anchor="b">
            <a:noAutofit/>
          </a:bodyPr>
          <a:lstStyle>
            <a:lvl1pPr marL="0" indent="0">
              <a:lnSpc>
                <a:spcPct val="85000"/>
              </a:lnSpc>
              <a:buNone/>
              <a:defRPr sz="7600" b="0" spc="-50" baseline="0"/>
            </a:lvl1pPr>
            <a:lvl2pPr marL="228600" indent="0">
              <a:lnSpc>
                <a:spcPct val="85000"/>
              </a:lnSpc>
              <a:buNone/>
              <a:defRPr sz="6000" b="0" spc="-50" baseline="0"/>
            </a:lvl2pPr>
            <a:lvl3pPr marL="457200" indent="0">
              <a:lnSpc>
                <a:spcPct val="85000"/>
              </a:lnSpc>
              <a:buNone/>
              <a:defRPr sz="5400" b="0" spc="-50" baseline="0"/>
            </a:lvl3pPr>
            <a:lvl4pPr marL="685800" indent="0">
              <a:lnSpc>
                <a:spcPct val="85000"/>
              </a:lnSpc>
              <a:buNone/>
              <a:defRPr sz="4800" b="0" spc="-50" baseline="0"/>
            </a:lvl4pPr>
            <a:lvl5pPr marL="914400" indent="0">
              <a:lnSpc>
                <a:spcPct val="85000"/>
              </a:lnSpc>
              <a:buNone/>
              <a:defRPr sz="4400" b="0"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A76414A-368B-4652-A82D-EB6803F5CA88}" type="datetime1">
              <a:rPr lang="en-US" smtClean="0"/>
              <a:t>8/22/2026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883233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3" y="214840"/>
            <a:ext cx="9966323" cy="4992427"/>
          </a:xfrm>
        </p:spPr>
        <p:txBody>
          <a:bodyPr anchor="t">
            <a:noAutofit/>
          </a:bodyPr>
          <a:lstStyle>
            <a:lvl1pPr marL="0" indent="0">
              <a:lnSpc>
                <a:spcPct val="85000"/>
              </a:lnSpc>
              <a:buNone/>
              <a:defRPr sz="7200" b="0" spc="-50" baseline="0">
                <a:solidFill>
                  <a:schemeClr val="accent1"/>
                </a:solidFill>
              </a:defRPr>
            </a:lvl1pPr>
            <a:lvl2pPr marL="228600" indent="0">
              <a:lnSpc>
                <a:spcPct val="85000"/>
              </a:lnSpc>
              <a:buNone/>
              <a:defRPr sz="7200" b="0" spc="-50" baseline="0">
                <a:solidFill>
                  <a:schemeClr val="accent1"/>
                </a:solidFill>
              </a:defRPr>
            </a:lvl2pPr>
            <a:lvl3pPr marL="457200" indent="0">
              <a:lnSpc>
                <a:spcPct val="85000"/>
              </a:lnSpc>
              <a:buNone/>
              <a:defRPr sz="7200" b="0" spc="-50" baseline="0">
                <a:solidFill>
                  <a:schemeClr val="accent1"/>
                </a:solidFill>
              </a:defRPr>
            </a:lvl3pPr>
            <a:lvl4pPr marL="685800" indent="0">
              <a:lnSpc>
                <a:spcPct val="85000"/>
              </a:lnSpc>
              <a:buNone/>
              <a:defRPr sz="7200" b="0" spc="-50" baseline="0">
                <a:solidFill>
                  <a:schemeClr val="accent1"/>
                </a:solidFill>
              </a:defRPr>
            </a:lvl4pPr>
            <a:lvl5pPr marL="914400" indent="0">
              <a:lnSpc>
                <a:spcPct val="85000"/>
              </a:lnSpc>
              <a:buNone/>
              <a:defRPr sz="7200" b="0" spc="-5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91DBFD5-B703-412C-946A-2366F0A22D6B}" type="datetime1">
              <a:rPr lang="en-US" smtClean="0"/>
              <a:t>8/22/2026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6373684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214840"/>
            <a:ext cx="10062576" cy="5040554"/>
          </a:xfrm>
        </p:spPr>
        <p:txBody>
          <a:bodyPr anchor="t">
            <a:noAutofit/>
          </a:bodyPr>
          <a:lstStyle>
            <a:lvl1pPr marL="0" indent="0">
              <a:lnSpc>
                <a:spcPct val="85000"/>
              </a:lnSpc>
              <a:buNone/>
              <a:defRPr sz="7600" b="0" spc="-50" baseline="0">
                <a:solidFill>
                  <a:schemeClr val="accent1">
                    <a:lumMod val="60000"/>
                    <a:lumOff val="40000"/>
                    <a:alpha val="80000"/>
                  </a:schemeClr>
                </a:solidFill>
              </a:defRPr>
            </a:lvl1pPr>
            <a:lvl2pPr marL="228600" indent="0">
              <a:lnSpc>
                <a:spcPct val="85000"/>
              </a:lnSpc>
              <a:buNone/>
              <a:defRPr sz="7600" b="0" spc="-50" baseline="0">
                <a:solidFill>
                  <a:schemeClr val="accent1">
                    <a:lumMod val="60000"/>
                    <a:lumOff val="40000"/>
                    <a:alpha val="80000"/>
                  </a:schemeClr>
                </a:solidFill>
              </a:defRPr>
            </a:lvl2pPr>
            <a:lvl3pPr marL="457200" indent="0">
              <a:lnSpc>
                <a:spcPct val="85000"/>
              </a:lnSpc>
              <a:buNone/>
              <a:defRPr sz="7600" b="0" spc="-50" baseline="0">
                <a:solidFill>
                  <a:schemeClr val="accent1">
                    <a:lumMod val="60000"/>
                    <a:lumOff val="40000"/>
                    <a:alpha val="80000"/>
                  </a:schemeClr>
                </a:solidFill>
              </a:defRPr>
            </a:lvl3pPr>
            <a:lvl4pPr marL="685800" indent="0">
              <a:lnSpc>
                <a:spcPct val="85000"/>
              </a:lnSpc>
              <a:buNone/>
              <a:defRPr sz="7600" b="0" spc="-50" baseline="0">
                <a:solidFill>
                  <a:schemeClr val="accent1">
                    <a:lumMod val="60000"/>
                    <a:lumOff val="40000"/>
                    <a:alpha val="80000"/>
                  </a:schemeClr>
                </a:solidFill>
              </a:defRPr>
            </a:lvl4pPr>
            <a:lvl5pPr marL="914400" indent="0">
              <a:lnSpc>
                <a:spcPct val="85000"/>
              </a:lnSpc>
              <a:buNone/>
              <a:defRPr sz="7600" b="0" spc="-50" baseline="0">
                <a:solidFill>
                  <a:schemeClr val="accent1">
                    <a:lumMod val="60000"/>
                    <a:lumOff val="40000"/>
                    <a:alpha val="80000"/>
                  </a:schemeClr>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lumMod val="60000"/>
                    <a:lumOff val="40000"/>
                  </a:schemeClr>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lumMod val="60000"/>
                    <a:lumOff val="40000"/>
                  </a:schemeClr>
                </a:solidFill>
              </a:defRPr>
            </a:lvl1pPr>
          </a:lstStyle>
          <a:p>
            <a:fld id="{68854924-AD04-46C8-8FD0-32E5D79D9633}" type="datetime1">
              <a:rPr lang="en-US" smtClean="0"/>
              <a:t>8/22/2026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lumMod val="60000"/>
                    <a:lumOff val="40000"/>
                  </a:schemeClr>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253551247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Rectangle: Rounded Corners 7">
            <a:extLst>
              <a:ext uri="{FF2B5EF4-FFF2-40B4-BE49-F238E27FC236}">
                <a16:creationId xmlns:a16="http://schemas.microsoft.com/office/drawing/2014/main" id="{E707BF49-7217-30B5-27A8-C28DF70EA021}"/>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134062" y="1048623"/>
            <a:ext cx="6014907" cy="4932728"/>
          </a:xfrm>
        </p:spPr>
        <p:txBody>
          <a:bodyPr anchor="b">
            <a:noAutofit/>
          </a:bodyPr>
          <a:lstStyle>
            <a:lvl1pPr marL="0" indent="0">
              <a:lnSpc>
                <a:spcPct val="85000"/>
              </a:lnSpc>
              <a:buNone/>
              <a:defRPr sz="5400" b="0" spc="-50" baseline="0">
                <a:solidFill>
                  <a:schemeClr val="tx2"/>
                </a:solidFill>
              </a:defRPr>
            </a:lvl1pPr>
            <a:lvl2pPr marL="228600" indent="0">
              <a:lnSpc>
                <a:spcPct val="85000"/>
              </a:lnSpc>
              <a:buNone/>
              <a:defRPr sz="4400" b="0" spc="-50" baseline="0">
                <a:solidFill>
                  <a:schemeClr val="tx2"/>
                </a:solidFill>
              </a:defRPr>
            </a:lvl2pPr>
            <a:lvl3pPr marL="457200" indent="0">
              <a:lnSpc>
                <a:spcPct val="85000"/>
              </a:lnSpc>
              <a:buNone/>
              <a:defRPr sz="3600" b="0" spc="-50" baseline="0">
                <a:solidFill>
                  <a:schemeClr val="tx2"/>
                </a:solidFill>
              </a:defRPr>
            </a:lvl3pPr>
            <a:lvl4pPr marL="685800" indent="0">
              <a:lnSpc>
                <a:spcPct val="85000"/>
              </a:lnSpc>
              <a:buNone/>
              <a:defRPr sz="3200" b="0" spc="-50" baseline="0">
                <a:solidFill>
                  <a:schemeClr val="tx2"/>
                </a:solidFill>
              </a:defRPr>
            </a:lvl4pPr>
            <a:lvl5pPr marL="914400" indent="0">
              <a:lnSpc>
                <a:spcPct val="85000"/>
              </a:lnSpc>
              <a:buNone/>
              <a:defRPr sz="2800" b="0" spc="-50" baseline="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945E2037-E423-4692-A686-AD13A31B3254}" type="datetime1">
              <a:rPr lang="en-US" smtClean="0"/>
              <a:t>8/22/2026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417082767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B335E6B9-2D9C-4660-92C5-78965463CC8F}" type="datetime1">
              <a:rPr lang="en-US" smtClean="0"/>
              <a:t>8/22/2026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8659798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2">
    <p:bg>
      <p:bgPr>
        <a:solidFill>
          <a:schemeClr val="bg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2FD12FA-BFA3-C887-EBC1-ED898186CB26}"/>
              </a:ext>
              <a:ext uri="{C183D7F6-B498-43B3-948B-1728B52AA6E4}">
                <adec:decorative xmlns:adec="http://schemas.microsoft.com/office/drawing/2017/decorative" val="1"/>
              </a:ext>
            </a:extLst>
          </p:cNvPr>
          <p:cNvSpPr/>
          <p:nvPr/>
        </p:nvSpPr>
        <p:spPr>
          <a:xfrm>
            <a:off x="620201" y="620202"/>
            <a:ext cx="10946701" cy="5617596"/>
          </a:xfrm>
          <a:prstGeom prst="roundRect">
            <a:avLst>
              <a:gd name="adj" fmla="val 550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619571" y="4874218"/>
            <a:ext cx="8753896" cy="666427"/>
          </a:xfrm>
        </p:spPr>
        <p:txBody>
          <a:bodyPr anchor="ctr">
            <a:normAutofit/>
          </a:bodyPr>
          <a:lstStyle>
            <a:lvl1pPr algn="r">
              <a:lnSpc>
                <a:spcPct val="90000"/>
              </a:lnSpc>
              <a:defRPr sz="1600" b="0" cap="all" spc="10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619571" y="1410343"/>
            <a:ext cx="8753895" cy="3301141"/>
          </a:xfrm>
        </p:spPr>
        <p:txBody>
          <a:bodyPr anchor="t">
            <a:normAutofit/>
          </a:bodyPr>
          <a:lstStyle>
            <a:lvl1pPr marL="164592" indent="-164592">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3F82639A-C38B-4DC4-A89D-3A41E7A79ECD}" type="datetime1">
              <a:rPr lang="en-US" smtClean="0"/>
              <a:t>8/22/2026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04065477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4A62FBA2-0B46-6A28-875D-1D493CFAC7EE}"/>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727126" y="5053386"/>
            <a:ext cx="5337341" cy="829328"/>
          </a:xfrm>
        </p:spPr>
        <p:txBody>
          <a:bodyPr anchor="ctr">
            <a:normAutofit/>
          </a:bodyPr>
          <a:lstStyle>
            <a:lvl1pPr algn="r">
              <a:lnSpc>
                <a:spcPct val="90000"/>
              </a:lnSpc>
              <a:defRPr sz="1600" b="0" cap="all" spc="100" baseline="0">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5374790" y="1078029"/>
            <a:ext cx="5337340" cy="3603028"/>
          </a:xfrm>
        </p:spPr>
        <p:txBody>
          <a:bodyPr anchor="t">
            <a:normAutofit/>
          </a:bodyPr>
          <a:lstStyle>
            <a:lvl1pPr marL="164592" indent="-164592">
              <a:lnSpc>
                <a:spcPct val="95000"/>
              </a:lnSpc>
              <a:spcBef>
                <a:spcPts val="0"/>
              </a:spcBef>
              <a:buFont typeface="Arial" panose="020B0604020202020204" pitchFamily="34" charset="0"/>
              <a:buNone/>
              <a:defRPr sz="43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F5CB1CF8-32E9-4DB7-83A6-BE10A0AD5321}" type="datetime1">
              <a:rPr lang="en-US" smtClean="0"/>
              <a:t>8/22/2026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364766755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E09F9171-FD47-8BB5-3DF9-885F03500FB9}"/>
              </a:ext>
              <a:ext uri="{C183D7F6-B498-43B3-948B-1728B52AA6E4}">
                <adec:decorative xmlns:adec="http://schemas.microsoft.com/office/drawing/2017/decorative" val="1"/>
              </a:ext>
            </a:extLst>
          </p:cNvPr>
          <p:cNvSpPr/>
          <p:nvPr/>
        </p:nvSpPr>
        <p:spPr>
          <a:xfrm>
            <a:off x="1880801" y="1175284"/>
            <a:ext cx="8430399" cy="4507431"/>
          </a:xfrm>
          <a:prstGeom prst="roundRect">
            <a:avLst>
              <a:gd name="adj" fmla="val 10241"/>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727007"/>
            <a:ext cx="7179129" cy="693019"/>
          </a:xfrm>
        </p:spPr>
        <p:txBody>
          <a:bodyPr anchor="t">
            <a:normAutofit/>
          </a:bodyPr>
          <a:lstStyle>
            <a:lvl1pPr algn="ctr">
              <a:lnSpc>
                <a:spcPct val="120000"/>
              </a:lnSpc>
              <a:defRPr sz="1400" b="0" cap="all" spc="100" baseline="0">
                <a:solidFill>
                  <a:srgbClr val="F0EDE6"/>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6" y="1638300"/>
            <a:ext cx="7179129" cy="2972201"/>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rgbClr val="F0EDE6"/>
                </a:solidFill>
              </a:defRPr>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D4283D50-03BE-4B63-B394-3AFFE93B94AD}" type="datetime1">
              <a:rPr lang="en-US" smtClean="0"/>
              <a:t>8/22/2026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893288501"/>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1"/>
        </a:soli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8F509A19-2BCA-5719-B875-5ED135FBF473}"/>
              </a:ext>
              <a:ext uri="{C183D7F6-B498-43B3-948B-1728B52AA6E4}">
                <adec:decorative xmlns:adec="http://schemas.microsoft.com/office/drawing/2017/decorative" val="1"/>
              </a:ext>
            </a:extLst>
          </p:cNvPr>
          <p:cNvSpPr/>
          <p:nvPr/>
        </p:nvSpPr>
        <p:spPr>
          <a:xfrm>
            <a:off x="1371600" y="1088757"/>
            <a:ext cx="9484963" cy="4680487"/>
          </a:xfrm>
          <a:prstGeom prst="roundRect">
            <a:avLst>
              <a:gd name="adj" fmla="val 6755"/>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046022" y="4652721"/>
            <a:ext cx="8105614" cy="666427"/>
          </a:xfrm>
        </p:spPr>
        <p:txBody>
          <a:bodyPr anchor="ctr">
            <a:normAutofit/>
          </a:bodyPr>
          <a:lstStyle>
            <a:lvl1pPr algn="r">
              <a:lnSpc>
                <a:spcPct val="90000"/>
              </a:lnSpc>
              <a:defRPr sz="1600" b="0" cap="all" spc="100" baseline="0">
                <a:solidFill>
                  <a:schemeClr val="tx2"/>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036398" y="1638300"/>
            <a:ext cx="8105614" cy="2898186"/>
          </a:xfrm>
        </p:spPr>
        <p:txBody>
          <a:bodyPr anchor="t">
            <a:normAutofit/>
          </a:bodyPr>
          <a:lstStyle>
            <a:lvl1pPr marL="164592" indent="-164592">
              <a:lnSpc>
                <a:spcPct val="90000"/>
              </a:lnSpc>
              <a:spcBef>
                <a:spcPts val="0"/>
              </a:spcBef>
              <a:buFont typeface="Arial" panose="020B0604020202020204" pitchFamily="34" charset="0"/>
              <a:buNone/>
              <a:defRPr sz="5000" spc="-50" baseline="0">
                <a:solidFill>
                  <a:schemeClr val="tx2"/>
                </a:solidFill>
              </a:defRPr>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07DA69C6-AB86-4555-AFCA-374D463A1405}" type="datetime1">
              <a:rPr lang="en-US" smtClean="0"/>
              <a:t>8/22/2026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3190527"/>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182880" y="1645920"/>
            <a:ext cx="5416759"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248400" y="1645920"/>
            <a:ext cx="5261184"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B5B9CE9-04E1-4A30-9610-62B3B25B32C1}" type="datetime1">
              <a:rPr lang="en-US" smtClean="0"/>
              <a:t>8/22/2026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2901779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181631" y="1649451"/>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245352" y="1649451"/>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C397DEDC-8F58-44F8-A177-8A00C8A4C6DB}" type="datetime1">
              <a:rPr lang="en-US" smtClean="0"/>
              <a:t>8/22/2026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1441831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C995DE8-BB4A-408C-A60C-374B496D02BA}" type="datetime1">
              <a:rPr lang="en-US" smtClean="0"/>
              <a:t>8/22/2026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5552115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46851F7-84B8-47C4-B767-E94FA9BAA188}" type="datetime1">
              <a:rPr lang="en-US" smtClean="0"/>
              <a:t>8/22/2026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6319751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78704" y="218113"/>
            <a:ext cx="3363393" cy="2345471"/>
          </a:xfrm>
        </p:spPr>
        <p:txBody>
          <a:bodyPr anchor="t">
            <a:normAutofit/>
          </a:bodyPr>
          <a:lstStyle>
            <a:lvl1pPr>
              <a:defRPr sz="30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78704" y="2563586"/>
            <a:ext cx="3363393" cy="3708232"/>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14900" y="218114"/>
            <a:ext cx="6688836" cy="6088068"/>
          </a:xfrm>
        </p:spPr>
        <p:txBody>
          <a:bodyPr vert="horz" lIns="91440" tIns="45720" rIns="91440" bIns="45720" rtlCol="0">
            <a:norm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93482DE2-0335-4BF2-A8F9-5A9E4F82FC09}" type="datetime1">
              <a:rPr lang="en-US" smtClean="0"/>
              <a:t>8/22/2026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278008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82880" y="219456"/>
            <a:ext cx="3176337" cy="2628249"/>
          </a:xfrm>
        </p:spPr>
        <p:txBody>
          <a:bodyPr anchor="t">
            <a:normAutofit/>
          </a:bodyPr>
          <a:lstStyle>
            <a:lvl1pPr>
              <a:defRPr sz="30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78705" y="2847706"/>
            <a:ext cx="3180512" cy="3424111"/>
          </a:xfrm>
        </p:spPr>
        <p:txBody>
          <a:bodyPr vert="horz" lIns="91440" tIns="45720" rIns="91440" bIns="45720" rtlCol="0" anchor="b">
            <a:normAutofit/>
          </a:bodyPr>
          <a:lstStyle>
            <a:lvl1pPr marL="0" indent="0">
              <a:buNone/>
              <a:defRPr lang="en-US" dirty="0"/>
            </a:lvl1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178704" y="6387128"/>
            <a:ext cx="2016929" cy="338328"/>
          </a:xfrm>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2310493" y="6387128"/>
            <a:ext cx="917224" cy="338328"/>
          </a:xfrm>
        </p:spPr>
        <p:txBody>
          <a:bodyPr/>
          <a:lstStyle/>
          <a:p>
            <a:fld id="{842EC803-812E-4F8B-A77B-00A746763209}" type="datetime1">
              <a:rPr lang="en-US" smtClean="0"/>
              <a:t>8/22/2026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3227717" y="6387128"/>
            <a:ext cx="457200" cy="338328"/>
          </a:xfrm>
        </p:spPr>
        <p:txBody>
          <a:bodyPr/>
          <a:lstStyle/>
          <a:p>
            <a:fld id="{C8116806-1FD2-4A57-B5EA-7014AB76383B}" type="slidenum">
              <a:rPr lang="en-US" smtClean="0"/>
              <a:t>‹#›</a:t>
            </a:fld>
            <a:endParaRPr lang="en-US"/>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hasCustomPrompt="1"/>
          </p:nvPr>
        </p:nvSpPr>
        <p:spPr>
          <a:xfrm>
            <a:off x="3962400" y="266700"/>
            <a:ext cx="7962900" cy="6324600"/>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dpi="0" rotWithShape="1">
            <a:blip r:embed="rId2">
              <a:alphaModFix amt="60000"/>
            </a:blip>
            <a:srcRect/>
            <a:stretch>
              <a:fillRect/>
            </a:stretch>
          </a:blipFill>
        </p:spPr>
        <p:txBody>
          <a:bodyPr wrap="square">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5046856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42CF504-FC97-4D7A-ADA4-4D7971A47BF8}" type="datetime1">
              <a:rPr lang="en-US" smtClean="0"/>
              <a:t>8/22/2026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4105637429"/>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B6DD06E-1834-4525-8B00-CED1355A3638}" type="datetime1">
              <a:rPr lang="en-US" smtClean="0"/>
              <a:t>8/22/2026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a:p>
        </p:txBody>
      </p:sp>
    </p:spTree>
    <p:extLst>
      <p:ext uri="{BB962C8B-B14F-4D97-AF65-F5344CB8AC3E}">
        <p14:creationId xmlns:p14="http://schemas.microsoft.com/office/powerpoint/2010/main" val="268149519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0C9DF407-AAD9-4F9F-B512-267BEB339CF5}" type="datetime1">
              <a:rPr lang="en-US" smtClean="0"/>
              <a:t>8/22/2026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C8116806-1FD2-4A57-B5EA-7014AB76383B}" type="slidenum">
              <a:rPr lang="en-US" smtClean="0"/>
              <a:t>‹#›</a:t>
            </a:fld>
            <a:endParaRPr lang="en-US"/>
          </a:p>
        </p:txBody>
      </p:sp>
    </p:spTree>
    <p:extLst>
      <p:ext uri="{BB962C8B-B14F-4D97-AF65-F5344CB8AC3E}">
        <p14:creationId xmlns:p14="http://schemas.microsoft.com/office/powerpoint/2010/main" val="3491360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sldNum="0" hdr="0" ftr="0" dt="0"/>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4850F-E3E3-1B85-4EA7-780FC67E23CE}"/>
              </a:ext>
            </a:extLst>
          </p:cNvPr>
          <p:cNvSpPr>
            <a:spLocks noGrp="1"/>
          </p:cNvSpPr>
          <p:nvPr>
            <p:ph type="ctrTitle"/>
          </p:nvPr>
        </p:nvSpPr>
        <p:spPr>
          <a:xfrm>
            <a:off x="1013116" y="1043184"/>
            <a:ext cx="3459903" cy="2906647"/>
          </a:xfrm>
        </p:spPr>
        <p:txBody>
          <a:bodyPr anchor="t">
            <a:normAutofit/>
          </a:bodyPr>
          <a:lstStyle/>
          <a:p>
            <a:r>
              <a:rPr lang="en-US"/>
              <a:t>ACEs: Integrated Impact Report — Enhanced</a:t>
            </a:r>
          </a:p>
        </p:txBody>
      </p:sp>
      <p:sp>
        <p:nvSpPr>
          <p:cNvPr id="3" name="Subtitle 2">
            <a:extLst>
              <a:ext uri="{FF2B5EF4-FFF2-40B4-BE49-F238E27FC236}">
                <a16:creationId xmlns:a16="http://schemas.microsoft.com/office/drawing/2014/main" id="{359217E8-D7C8-D333-9973-D73268053CF3}"/>
              </a:ext>
            </a:extLst>
          </p:cNvPr>
          <p:cNvSpPr>
            <a:spLocks noGrp="1"/>
          </p:cNvSpPr>
          <p:nvPr>
            <p:ph type="subTitle" idx="1"/>
          </p:nvPr>
        </p:nvSpPr>
        <p:spPr>
          <a:xfrm>
            <a:off x="1013117" y="4692866"/>
            <a:ext cx="3361935" cy="1123268"/>
          </a:xfrm>
        </p:spPr>
        <p:txBody>
          <a:bodyPr anchor="b">
            <a:normAutofit/>
          </a:bodyPr>
          <a:lstStyle/>
          <a:p>
            <a:r>
              <a:rPr lang="en-US"/>
              <a:t>Comprehensive analysis of childhood experiences and outcomes</a:t>
            </a:r>
          </a:p>
        </p:txBody>
      </p:sp>
      <p:pic>
        <p:nvPicPr>
          <p:cNvPr id="4" name="Picture 3" descr="Illustration of programming code">
            <a:extLst>
              <a:ext uri="{FF2B5EF4-FFF2-40B4-BE49-F238E27FC236}">
                <a16:creationId xmlns:a16="http://schemas.microsoft.com/office/drawing/2014/main" id="{4681CC48-633B-4B9A-8B7A-584746CDB7BE}"/>
              </a:ext>
            </a:extLst>
          </p:cNvPr>
          <p:cNvPicPr>
            <a:picLocks noChangeAspect="1"/>
          </p:cNvPicPr>
          <p:nvPr/>
        </p:nvPicPr>
        <p:blipFill>
          <a:blip r:embed="rId3"/>
          <a:srcRect l="2063" r="9048"/>
          <a:stretch>
            <a:fillRect/>
          </a:stretch>
        </p:blipFill>
        <p:spPr>
          <a:xfrm>
            <a:off x="20" y="10"/>
            <a:ext cx="12191980" cy="6857990"/>
          </a:xfrm>
          <a:custGeom>
            <a:avLst/>
            <a:gdLst>
              <a:gd name="connsiteX0" fmla="*/ 1124624 w 12192000"/>
              <a:gd name="connsiteY0" fmla="*/ 808189 h 6858000"/>
              <a:gd name="connsiteX1" fmla="*/ 811206 w 12192000"/>
              <a:gd name="connsiteY1" fmla="*/ 1121607 h 6858000"/>
              <a:gd name="connsiteX2" fmla="*/ 811206 w 12192000"/>
              <a:gd name="connsiteY2" fmla="*/ 5736392 h 6858000"/>
              <a:gd name="connsiteX3" fmla="*/ 1124624 w 12192000"/>
              <a:gd name="connsiteY3" fmla="*/ 6049810 h 6858000"/>
              <a:gd name="connsiteX4" fmla="*/ 4372882 w 12192000"/>
              <a:gd name="connsiteY4" fmla="*/ 6049810 h 6858000"/>
              <a:gd name="connsiteX5" fmla="*/ 4686301 w 12192000"/>
              <a:gd name="connsiteY5" fmla="*/ 5736392 h 6858000"/>
              <a:gd name="connsiteX6" fmla="*/ 4686301 w 12192000"/>
              <a:gd name="connsiteY6" fmla="*/ 1121607 h 6858000"/>
              <a:gd name="connsiteX7" fmla="*/ 4372882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124624" y="808189"/>
                </a:moveTo>
                <a:cubicBezTo>
                  <a:pt x="951528" y="808189"/>
                  <a:pt x="811206" y="948511"/>
                  <a:pt x="811206" y="1121607"/>
                </a:cubicBezTo>
                <a:lnTo>
                  <a:pt x="811206" y="5736392"/>
                </a:lnTo>
                <a:cubicBezTo>
                  <a:pt x="811206" y="5909488"/>
                  <a:pt x="951528" y="6049810"/>
                  <a:pt x="1124624" y="6049810"/>
                </a:cubicBezTo>
                <a:lnTo>
                  <a:pt x="4372882" y="6049810"/>
                </a:lnTo>
                <a:cubicBezTo>
                  <a:pt x="4545978" y="6049810"/>
                  <a:pt x="4686301" y="5909488"/>
                  <a:pt x="4686301" y="5736392"/>
                </a:cubicBezTo>
                <a:lnTo>
                  <a:pt x="4686301" y="1121607"/>
                </a:lnTo>
                <a:cubicBezTo>
                  <a:pt x="4686301" y="948511"/>
                  <a:pt x="4545978" y="808189"/>
                  <a:pt x="4372882" y="808189"/>
                </a:cubicBez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186016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BE153-D122-6EB0-ABAB-3A6893C7C9EE}"/>
              </a:ext>
            </a:extLst>
          </p:cNvPr>
          <p:cNvSpPr>
            <a:spLocks noGrp="1"/>
          </p:cNvSpPr>
          <p:nvPr>
            <p:ph type="title"/>
          </p:nvPr>
        </p:nvSpPr>
        <p:spPr>
          <a:xfrm>
            <a:off x="157729" y="3200400"/>
            <a:ext cx="9002895" cy="3582184"/>
          </a:xfrm>
        </p:spPr>
        <p:txBody>
          <a:bodyPr anchor="b">
            <a:normAutofit/>
          </a:bodyPr>
          <a:lstStyle/>
          <a:p>
            <a:r>
              <a:rPr lang="en-US"/>
              <a:t>Mechanism of Unconscious Momentum</a:t>
            </a:r>
          </a:p>
        </p:txBody>
      </p:sp>
    </p:spTree>
    <p:extLst>
      <p:ext uri="{BB962C8B-B14F-4D97-AF65-F5344CB8AC3E}">
        <p14:creationId xmlns:p14="http://schemas.microsoft.com/office/powerpoint/2010/main" val="12010078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38BEB-0F7D-DE5D-6E49-77F540B6958D}"/>
              </a:ext>
            </a:extLst>
          </p:cNvPr>
          <p:cNvSpPr>
            <a:spLocks noGrp="1"/>
          </p:cNvSpPr>
          <p:nvPr>
            <p:ph type="title"/>
          </p:nvPr>
        </p:nvSpPr>
        <p:spPr>
          <a:xfrm>
            <a:off x="4919525" y="219456"/>
            <a:ext cx="6376547" cy="1066006"/>
          </a:xfrm>
        </p:spPr>
        <p:txBody>
          <a:bodyPr vert="horz" lIns="91440" tIns="45720" rIns="91440" bIns="45720" rtlCol="0" anchor="t">
            <a:normAutofit/>
          </a:bodyPr>
          <a:lstStyle/>
          <a:p>
            <a:r>
              <a:rPr lang="en-US" b="0" kern="1200" spc="-100" baseline="0">
                <a:latin typeface="+mj-lt"/>
                <a:ea typeface="+mj-ea"/>
                <a:cs typeface="+mj-cs"/>
              </a:rPr>
              <a:t>Understanding Developmental Stack and Momentum</a:t>
            </a:r>
          </a:p>
        </p:txBody>
      </p:sp>
      <p:pic>
        <p:nvPicPr>
          <p:cNvPr id="4" name="Content Placeholder 3" descr="Artificial intelligence, machine learning concept with brain. Color gradient, neon lights.">
            <a:extLst>
              <a:ext uri="{FF2B5EF4-FFF2-40B4-BE49-F238E27FC236}">
                <a16:creationId xmlns:a16="http://schemas.microsoft.com/office/drawing/2014/main" id="{0B1A7686-2FF5-43C1-A200-0A06935E0872}"/>
              </a:ext>
            </a:extLst>
          </p:cNvPr>
          <p:cNvPicPr>
            <a:picLocks noGrp="1" noChangeAspect="1"/>
          </p:cNvPicPr>
          <p:nvPr>
            <p:ph type="pic" sz="quarter" idx="13"/>
          </p:nvPr>
        </p:nvPicPr>
        <p:blipFill>
          <a:blip r:embed="rId3"/>
          <a:srcRect l="24880" r="28486" b="1"/>
          <a:stretch>
            <a:fillRect/>
          </a:stretch>
        </p:blipFill>
        <p:spPr>
          <a:xfrm>
            <a:off x="274320" y="268573"/>
            <a:ext cx="4419600" cy="6325969"/>
          </a:xfrm>
        </p:spPr>
      </p:pic>
      <p:sp>
        <p:nvSpPr>
          <p:cNvPr id="5" name="TextBox 4">
            <a:extLst>
              <a:ext uri="{FF2B5EF4-FFF2-40B4-BE49-F238E27FC236}">
                <a16:creationId xmlns:a16="http://schemas.microsoft.com/office/drawing/2014/main" id="{1E8792A7-7885-4C9A-BD21-82AA0C26BF7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19526" y="1285462"/>
            <a:ext cx="6376546" cy="4986355"/>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Developmental Stack Layers</a:t>
            </a:r>
          </a:p>
          <a:p>
            <a:pPr marL="0" lvl="1" indent="0">
              <a:spcBef>
                <a:spcPts val="1000"/>
              </a:spcBef>
              <a:spcAft>
                <a:spcPts val="600"/>
              </a:spcAft>
              <a:buFont typeface="Arial" panose="020B0604020202020204" pitchFamily="34" charset="0"/>
              <a:buNone/>
            </a:pPr>
            <a:r>
              <a:rPr lang="en-US" sz="1400"/>
              <a:t>Developmental stack includes genetics, early attachment, childhood schemas, and limbic system dominance influencing behavior.</a:t>
            </a:r>
          </a:p>
          <a:p>
            <a:pPr marL="0" indent="0">
              <a:spcBef>
                <a:spcPts val="2500"/>
              </a:spcBef>
              <a:spcAft>
                <a:spcPts val="600"/>
              </a:spcAft>
              <a:buFont typeface="Arial" panose="020B0604020202020204" pitchFamily="34" charset="0"/>
              <a:buNone/>
            </a:pPr>
            <a:r>
              <a:rPr lang="en-US" sz="1400" b="1"/>
              <a:t>Unconscious Momentum</a:t>
            </a:r>
          </a:p>
          <a:p>
            <a:pPr marL="0" lvl="1" indent="0">
              <a:spcBef>
                <a:spcPts val="1000"/>
              </a:spcBef>
              <a:spcAft>
                <a:spcPts val="600"/>
              </a:spcAft>
              <a:buFont typeface="Arial" panose="020B0604020202020204" pitchFamily="34" charset="0"/>
              <a:buNone/>
            </a:pPr>
            <a:r>
              <a:rPr lang="en-US" sz="1400"/>
              <a:t>Patterns formed early persist unconsciously, causing repeated behaviors despite conscious insight.</a:t>
            </a:r>
          </a:p>
          <a:p>
            <a:pPr marL="0" indent="0">
              <a:spcBef>
                <a:spcPts val="2500"/>
              </a:spcBef>
              <a:spcAft>
                <a:spcPts val="600"/>
              </a:spcAft>
              <a:buFont typeface="Arial" panose="020B0604020202020204" pitchFamily="34" charset="0"/>
              <a:buNone/>
            </a:pPr>
            <a:r>
              <a:rPr lang="en-US" sz="1400" b="1"/>
              <a:t>Conscious Change Process</a:t>
            </a:r>
          </a:p>
          <a:p>
            <a:pPr marL="0" lvl="1" indent="0">
              <a:spcBef>
                <a:spcPts val="1000"/>
              </a:spcBef>
              <a:spcAft>
                <a:spcPts val="600"/>
              </a:spcAft>
              <a:buFont typeface="Arial" panose="020B0604020202020204" pitchFamily="34" charset="0"/>
              <a:buNone/>
            </a:pPr>
            <a:r>
              <a:rPr lang="en-US" sz="1400"/>
              <a:t>Breaking unconscious momentum requires conscious practice, building new neural pathways and reducing shame.</a:t>
            </a:r>
          </a:p>
          <a:p>
            <a:pPr marL="0" indent="0">
              <a:spcBef>
                <a:spcPts val="2500"/>
              </a:spcBef>
              <a:spcAft>
                <a:spcPts val="600"/>
              </a:spcAft>
              <a:buFont typeface="Arial" panose="020B0604020202020204" pitchFamily="34" charset="0"/>
              <a:buNone/>
            </a:pPr>
            <a:r>
              <a:rPr lang="en-US" sz="1400" b="1"/>
              <a:t>Dual Reality in Transition</a:t>
            </a:r>
          </a:p>
          <a:p>
            <a:pPr marL="0" lvl="1" indent="0">
              <a:spcBef>
                <a:spcPts val="1000"/>
              </a:spcBef>
              <a:spcAft>
                <a:spcPts val="600"/>
              </a:spcAft>
              <a:buFont typeface="Arial" panose="020B0604020202020204" pitchFamily="34" charset="0"/>
              <a:buNone/>
            </a:pPr>
            <a:r>
              <a:rPr lang="en-US" sz="1400"/>
              <a:t>Old patterns persist while new aligned actions build positive momentum needing patience and repetition.</a:t>
            </a:r>
          </a:p>
        </p:txBody>
      </p:sp>
    </p:spTree>
    <p:extLst>
      <p:ext uri="{BB962C8B-B14F-4D97-AF65-F5344CB8AC3E}">
        <p14:creationId xmlns:p14="http://schemas.microsoft.com/office/powerpoint/2010/main" val="34802641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2FA7F-5D66-F307-0910-3298672852A5}"/>
              </a:ext>
            </a:extLst>
          </p:cNvPr>
          <p:cNvSpPr>
            <a:spLocks noGrp="1"/>
          </p:cNvSpPr>
          <p:nvPr>
            <p:ph type="title"/>
          </p:nvPr>
        </p:nvSpPr>
        <p:spPr>
          <a:xfrm>
            <a:off x="157729" y="3200400"/>
            <a:ext cx="9002895" cy="3582184"/>
          </a:xfrm>
        </p:spPr>
        <p:txBody>
          <a:bodyPr anchor="b">
            <a:normAutofit/>
          </a:bodyPr>
          <a:lstStyle/>
          <a:p>
            <a:r>
              <a:rPr lang="en-US"/>
              <a:t>Unconscious Decision Chain</a:t>
            </a:r>
          </a:p>
        </p:txBody>
      </p:sp>
    </p:spTree>
    <p:extLst>
      <p:ext uri="{BB962C8B-B14F-4D97-AF65-F5344CB8AC3E}">
        <p14:creationId xmlns:p14="http://schemas.microsoft.com/office/powerpoint/2010/main" val="16991933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4F292-B9C8-8203-5513-4A9F782D64CA}"/>
              </a:ext>
            </a:extLst>
          </p:cNvPr>
          <p:cNvSpPr>
            <a:spLocks noGrp="1"/>
          </p:cNvSpPr>
          <p:nvPr>
            <p:ph type="title"/>
          </p:nvPr>
        </p:nvSpPr>
        <p:spPr>
          <a:xfrm>
            <a:off x="182879" y="219457"/>
            <a:ext cx="6370321" cy="1008871"/>
          </a:xfrm>
        </p:spPr>
        <p:txBody>
          <a:bodyPr vert="horz" lIns="91440" tIns="45720" rIns="91440" bIns="45720" rtlCol="0" anchor="t">
            <a:normAutofit/>
          </a:bodyPr>
          <a:lstStyle/>
          <a:p>
            <a:r>
              <a:rPr lang="en-US" b="0" kern="1200" spc="-100" baseline="0">
                <a:latin typeface="+mj-lt"/>
                <a:ea typeface="+mj-ea"/>
                <a:cs typeface="+mj-cs"/>
              </a:rPr>
              <a:t>Addiction and Relational Compulsion Mechanisms</a:t>
            </a:r>
          </a:p>
        </p:txBody>
      </p:sp>
      <p:sp>
        <p:nvSpPr>
          <p:cNvPr id="5" name="TextBox 4">
            <a:extLst>
              <a:ext uri="{FF2B5EF4-FFF2-40B4-BE49-F238E27FC236}">
                <a16:creationId xmlns:a16="http://schemas.microsoft.com/office/drawing/2014/main" id="{A1DDEDD0-B70D-4EBB-BD98-9579724A6C2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82880" y="1228329"/>
            <a:ext cx="6370320" cy="504349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Unconscious Decision Chain</a:t>
            </a:r>
          </a:p>
          <a:p>
            <a:pPr marL="0" lvl="1" indent="0">
              <a:spcBef>
                <a:spcPts val="1000"/>
              </a:spcBef>
              <a:spcAft>
                <a:spcPts val="600"/>
              </a:spcAft>
              <a:buFont typeface="Arial" panose="020B0604020202020204" pitchFamily="34" charset="0"/>
              <a:buNone/>
            </a:pPr>
            <a:r>
              <a:rPr lang="en-US" sz="1400"/>
              <a:t>Compulsive behaviors follow a cycle of triggers, automatic thoughts, emotional reactions, and temporary relief reinforcing themselves.</a:t>
            </a:r>
          </a:p>
          <a:p>
            <a:pPr marL="0" indent="0">
              <a:spcBef>
                <a:spcPts val="2500"/>
              </a:spcBef>
              <a:spcAft>
                <a:spcPts val="600"/>
              </a:spcAft>
              <a:buFont typeface="Arial" panose="020B0604020202020204" pitchFamily="34" charset="0"/>
              <a:buNone/>
            </a:pPr>
            <a:r>
              <a:rPr lang="en-US" sz="1400" b="1"/>
              <a:t>Role of Emotional Reactivity</a:t>
            </a:r>
          </a:p>
          <a:p>
            <a:pPr marL="0" lvl="1" indent="0">
              <a:spcBef>
                <a:spcPts val="1000"/>
              </a:spcBef>
              <a:spcAft>
                <a:spcPts val="600"/>
              </a:spcAft>
              <a:buFont typeface="Arial" panose="020B0604020202020204" pitchFamily="34" charset="0"/>
              <a:buNone/>
            </a:pPr>
            <a:r>
              <a:rPr lang="en-US" sz="1400"/>
              <a:t>Emotions like fear or shame drive compulsive actions aimed at immediate relief but strengthen unhealthy patterns.</a:t>
            </a:r>
          </a:p>
          <a:p>
            <a:pPr marL="0" indent="0">
              <a:spcBef>
                <a:spcPts val="2500"/>
              </a:spcBef>
              <a:spcAft>
                <a:spcPts val="600"/>
              </a:spcAft>
              <a:buFont typeface="Arial" panose="020B0604020202020204" pitchFamily="34" charset="0"/>
              <a:buNone/>
            </a:pPr>
            <a:r>
              <a:rPr lang="en-US" sz="1400" b="1"/>
              <a:t>Conscious Interventions</a:t>
            </a:r>
          </a:p>
          <a:p>
            <a:pPr marL="0" lvl="1" indent="0">
              <a:spcBef>
                <a:spcPts val="1000"/>
              </a:spcBef>
              <a:spcAft>
                <a:spcPts val="600"/>
              </a:spcAft>
              <a:buFont typeface="Arial" panose="020B0604020202020204" pitchFamily="34" charset="0"/>
              <a:buNone/>
            </a:pPr>
            <a:r>
              <a:rPr lang="en-US" sz="1400"/>
              <a:t>Techniques like Sacred Pause and grounding create space for mindful choices, breaking compulsive cycles.</a:t>
            </a:r>
          </a:p>
          <a:p>
            <a:pPr marL="0" indent="0">
              <a:spcBef>
                <a:spcPts val="2500"/>
              </a:spcBef>
              <a:spcAft>
                <a:spcPts val="600"/>
              </a:spcAft>
              <a:buFont typeface="Arial" panose="020B0604020202020204" pitchFamily="34" charset="0"/>
              <a:buNone/>
            </a:pPr>
            <a:r>
              <a:rPr lang="en-US" sz="1400" b="1"/>
              <a:t>Transformation through Awareness</a:t>
            </a:r>
          </a:p>
          <a:p>
            <a:pPr marL="0" lvl="1" indent="0">
              <a:spcBef>
                <a:spcPts val="1000"/>
              </a:spcBef>
              <a:spcAft>
                <a:spcPts val="600"/>
              </a:spcAft>
              <a:buFont typeface="Arial" panose="020B0604020202020204" pitchFamily="34" charset="0"/>
              <a:buNone/>
            </a:pPr>
            <a:r>
              <a:rPr lang="en-US" sz="1400"/>
              <a:t>Understanding compulsions as attempts to manage distress empowers intentional change and healing.</a:t>
            </a:r>
          </a:p>
        </p:txBody>
      </p:sp>
      <p:pic>
        <p:nvPicPr>
          <p:cNvPr id="4" name="Content Placeholder 3" descr="Positive and negative thinking, make your choice.">
            <a:extLst>
              <a:ext uri="{FF2B5EF4-FFF2-40B4-BE49-F238E27FC236}">
                <a16:creationId xmlns:a16="http://schemas.microsoft.com/office/drawing/2014/main" id="{97E454D7-8E2B-4598-95C1-94B47FC44434}"/>
              </a:ext>
            </a:extLst>
          </p:cNvPr>
          <p:cNvPicPr>
            <a:picLocks noGrp="1" noChangeAspect="1"/>
          </p:cNvPicPr>
          <p:nvPr>
            <p:ph type="pic" sz="quarter" idx="13"/>
          </p:nvPr>
        </p:nvPicPr>
        <p:blipFill>
          <a:blip r:embed="rId3"/>
          <a:srcRect l="3186" r="56808" b="-1"/>
          <a:stretch>
            <a:fillRect/>
          </a:stretch>
        </p:blipFill>
        <p:spPr>
          <a:xfrm>
            <a:off x="7505700" y="266700"/>
            <a:ext cx="4419600" cy="6324600"/>
          </a:xfrm>
        </p:spPr>
      </p:pic>
    </p:spTree>
    <p:extLst>
      <p:ext uri="{BB962C8B-B14F-4D97-AF65-F5344CB8AC3E}">
        <p14:creationId xmlns:p14="http://schemas.microsoft.com/office/powerpoint/2010/main" val="40595488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9FC7D-409E-FA52-BE5F-A36C453730E2}"/>
              </a:ext>
            </a:extLst>
          </p:cNvPr>
          <p:cNvSpPr>
            <a:spLocks noGrp="1"/>
          </p:cNvSpPr>
          <p:nvPr>
            <p:ph type="title"/>
          </p:nvPr>
        </p:nvSpPr>
        <p:spPr>
          <a:xfrm>
            <a:off x="157729" y="3200400"/>
            <a:ext cx="9002895" cy="3582184"/>
          </a:xfrm>
        </p:spPr>
        <p:txBody>
          <a:bodyPr anchor="b">
            <a:normAutofit/>
          </a:bodyPr>
          <a:lstStyle/>
          <a:p>
            <a:r>
              <a:rPr lang="en-US"/>
              <a:t>Five-Step Practice</a:t>
            </a:r>
          </a:p>
        </p:txBody>
      </p:sp>
    </p:spTree>
    <p:extLst>
      <p:ext uri="{BB962C8B-B14F-4D97-AF65-F5344CB8AC3E}">
        <p14:creationId xmlns:p14="http://schemas.microsoft.com/office/powerpoint/2010/main" val="14929217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B5432-7C3D-AD51-3AB1-2FB66F0786E4}"/>
              </a:ext>
            </a:extLst>
          </p:cNvPr>
          <p:cNvSpPr>
            <a:spLocks noGrp="1"/>
          </p:cNvSpPr>
          <p:nvPr>
            <p:ph type="title"/>
          </p:nvPr>
        </p:nvSpPr>
        <p:spPr>
          <a:xfrm>
            <a:off x="182880" y="219456"/>
            <a:ext cx="3310394" cy="4058127"/>
          </a:xfrm>
        </p:spPr>
        <p:txBody>
          <a:bodyPr anchor="t">
            <a:normAutofit/>
          </a:bodyPr>
          <a:lstStyle/>
          <a:p>
            <a:r>
              <a:rPr lang="en-US"/>
              <a:t>Structured Intervention for Conscious Transformation</a:t>
            </a:r>
          </a:p>
        </p:txBody>
      </p:sp>
      <p:sp>
        <p:nvSpPr>
          <p:cNvPr id="3" name="Content Placeholder 2">
            <a:extLst>
              <a:ext uri="{FF2B5EF4-FFF2-40B4-BE49-F238E27FC236}">
                <a16:creationId xmlns:a16="http://schemas.microsoft.com/office/drawing/2014/main" id="{E969F5E1-1E5E-BFB6-26EB-CCA9BC42EE3E}"/>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972674" y="266700"/>
            <a:ext cx="7688495" cy="6047836"/>
          </a:xfrm>
        </p:spPr>
        <p:txBody>
          <a:bodyPr>
            <a:normAutofit/>
          </a:bodyPr>
          <a:lstStyle/>
          <a:p>
            <a:pPr marL="0" indent="0">
              <a:spcBef>
                <a:spcPts val="2500"/>
              </a:spcBef>
              <a:buFont typeface="Arial" panose="020B0604020202020204" pitchFamily="34" charset="0"/>
              <a:buNone/>
            </a:pPr>
            <a:r>
              <a:rPr lang="en-US" b="1"/>
              <a:t>Pause and Interrupt</a:t>
            </a:r>
          </a:p>
          <a:p>
            <a:pPr marL="0" lvl="1" indent="0">
              <a:buFont typeface="Arial" panose="020B0604020202020204" pitchFamily="34" charset="0"/>
              <a:buNone/>
            </a:pPr>
            <a:r>
              <a:t>Stopping creates a mindful pause to break automatic, unconscious behavioral momentum.</a:t>
            </a:r>
            <a:endParaRPr lang="en-US"/>
          </a:p>
          <a:p>
            <a:pPr marL="0" indent="0">
              <a:spcBef>
                <a:spcPts val="2500"/>
              </a:spcBef>
              <a:buFont typeface="Arial" panose="020B0604020202020204" pitchFamily="34" charset="0"/>
              <a:buNone/>
            </a:pPr>
            <a:r>
              <a:rPr lang="en-US" b="1"/>
              <a:t>Regulate and Breathe</a:t>
            </a:r>
          </a:p>
          <a:p>
            <a:pPr marL="0" lvl="1" indent="0">
              <a:buFont typeface="Arial" panose="020B0604020202020204" pitchFamily="34" charset="0"/>
              <a:buNone/>
            </a:pPr>
            <a:r>
              <a:t>Controlled breathing regulates the nervous system and restores executive brain functions.</a:t>
            </a:r>
            <a:endParaRPr lang="en-US"/>
          </a:p>
          <a:p>
            <a:pPr marL="0" indent="0">
              <a:spcBef>
                <a:spcPts val="2500"/>
              </a:spcBef>
              <a:buFont typeface="Arial" panose="020B0604020202020204" pitchFamily="34" charset="0"/>
              <a:buNone/>
            </a:pPr>
            <a:r>
              <a:rPr lang="en-US" b="1"/>
              <a:t>Connect and Listen</a:t>
            </a:r>
          </a:p>
          <a:p>
            <a:pPr marL="0" lvl="1" indent="0">
              <a:buFont typeface="Arial" panose="020B0604020202020204" pitchFamily="34" charset="0"/>
              <a:buNone/>
            </a:pPr>
            <a:r>
              <a:t>Listening fosters connection to authentic values and present reality over fear responses.</a:t>
            </a:r>
            <a:endParaRPr lang="en-US"/>
          </a:p>
          <a:p>
            <a:pPr marL="0" indent="0">
              <a:spcBef>
                <a:spcPts val="2500"/>
              </a:spcBef>
              <a:buFont typeface="Arial" panose="020B0604020202020204" pitchFamily="34" charset="0"/>
              <a:buNone/>
            </a:pPr>
            <a:r>
              <a:rPr lang="en-US" b="1"/>
              <a:t>Aligned Intention</a:t>
            </a:r>
          </a:p>
          <a:p>
            <a:pPr marL="0" lvl="1" indent="0">
              <a:buFont typeface="Arial" panose="020B0604020202020204" pitchFamily="34" charset="0"/>
              <a:buNone/>
            </a:pPr>
            <a:r>
              <a:t>Finding motivations that serve others kindly and uphold ethical clarity and compassion.</a:t>
            </a:r>
            <a:endParaRPr lang="en-US"/>
          </a:p>
          <a:p>
            <a:pPr marL="0" indent="0">
              <a:spcBef>
                <a:spcPts val="2500"/>
              </a:spcBef>
              <a:buFont typeface="Arial" panose="020B0604020202020204" pitchFamily="34" charset="0"/>
              <a:buNone/>
            </a:pPr>
            <a:r>
              <a:rPr lang="en-US" b="1"/>
              <a:t>Act with Boundaries</a:t>
            </a:r>
          </a:p>
          <a:p>
            <a:pPr marL="0" lvl="1" indent="0">
              <a:buFont typeface="Arial" panose="020B0604020202020204" pitchFamily="34" charset="0"/>
              <a:buNone/>
            </a:pPr>
            <a:r>
              <a:t>Taking respectful action that maintains integrity and avoids harm to self and others.</a:t>
            </a:r>
            <a:endParaRPr lang="en-US"/>
          </a:p>
        </p:txBody>
      </p:sp>
    </p:spTree>
    <p:extLst>
      <p:ext uri="{BB962C8B-B14F-4D97-AF65-F5344CB8AC3E}">
        <p14:creationId xmlns:p14="http://schemas.microsoft.com/office/powerpoint/2010/main" val="28247449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8351-2575-153A-893B-3FB0963AD58A}"/>
              </a:ext>
            </a:extLst>
          </p:cNvPr>
          <p:cNvSpPr>
            <a:spLocks noGrp="1"/>
          </p:cNvSpPr>
          <p:nvPr>
            <p:ph type="title"/>
          </p:nvPr>
        </p:nvSpPr>
        <p:spPr>
          <a:xfrm>
            <a:off x="157729" y="3200400"/>
            <a:ext cx="9002895" cy="3582184"/>
          </a:xfrm>
        </p:spPr>
        <p:txBody>
          <a:bodyPr anchor="b">
            <a:normAutofit/>
          </a:bodyPr>
          <a:lstStyle/>
          <a:p>
            <a:r>
              <a:rPr lang="en-US"/>
              <a:t>Phased Care Pathway</a:t>
            </a:r>
          </a:p>
        </p:txBody>
      </p:sp>
    </p:spTree>
    <p:extLst>
      <p:ext uri="{BB962C8B-B14F-4D97-AF65-F5344CB8AC3E}">
        <p14:creationId xmlns:p14="http://schemas.microsoft.com/office/powerpoint/2010/main" val="30532783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3346B-8146-D034-234F-459C54036EA1}"/>
              </a:ext>
            </a:extLst>
          </p:cNvPr>
          <p:cNvSpPr>
            <a:spLocks noGrp="1"/>
          </p:cNvSpPr>
          <p:nvPr>
            <p:ph type="title"/>
          </p:nvPr>
        </p:nvSpPr>
        <p:spPr>
          <a:xfrm>
            <a:off x="182880" y="219456"/>
            <a:ext cx="3310394" cy="4058127"/>
          </a:xfrm>
        </p:spPr>
        <p:txBody>
          <a:bodyPr anchor="t">
            <a:normAutofit/>
          </a:bodyPr>
          <a:lstStyle/>
          <a:p>
            <a:r>
              <a:rPr lang="en-US"/>
              <a:t>ACE-Informed Recovery Stages</a:t>
            </a:r>
          </a:p>
        </p:txBody>
      </p:sp>
      <p:sp>
        <p:nvSpPr>
          <p:cNvPr id="3" name="Content Placeholder 2">
            <a:extLst>
              <a:ext uri="{FF2B5EF4-FFF2-40B4-BE49-F238E27FC236}">
                <a16:creationId xmlns:a16="http://schemas.microsoft.com/office/drawing/2014/main" id="{BB5A8A76-3F10-5B19-BC9C-6F3FFE8DEA08}"/>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972674" y="266700"/>
            <a:ext cx="7688495" cy="6047836"/>
          </a:xfrm>
        </p:spPr>
        <p:txBody>
          <a:bodyPr>
            <a:normAutofit/>
          </a:bodyPr>
          <a:lstStyle/>
          <a:p>
            <a:pPr marL="0" indent="0">
              <a:spcBef>
                <a:spcPts val="2500"/>
              </a:spcBef>
              <a:buFont typeface="Arial" panose="020B0604020202020204" pitchFamily="34" charset="0"/>
              <a:buNone/>
            </a:pPr>
            <a:r>
              <a:rPr lang="en-US" b="1"/>
              <a:t>Safety and Stabilization</a:t>
            </a:r>
          </a:p>
          <a:p>
            <a:pPr marL="0" lvl="1" indent="0">
              <a:buFont typeface="Arial" panose="020B0604020202020204" pitchFamily="34" charset="0"/>
              <a:buNone/>
            </a:pPr>
            <a:r>
              <a:t>Focus on nervous system regulation, environmental safety, and building therapeutic trust.</a:t>
            </a:r>
            <a:endParaRPr lang="en-US"/>
          </a:p>
          <a:p>
            <a:pPr marL="0" indent="0">
              <a:spcBef>
                <a:spcPts val="2500"/>
              </a:spcBef>
              <a:buFont typeface="Arial" panose="020B0604020202020204" pitchFamily="34" charset="0"/>
              <a:buNone/>
            </a:pPr>
            <a:r>
              <a:rPr lang="en-US" b="1"/>
              <a:t>Recognition and Understanding</a:t>
            </a:r>
          </a:p>
          <a:p>
            <a:pPr marL="0" lvl="1" indent="0">
              <a:buFont typeface="Arial" panose="020B0604020202020204" pitchFamily="34" charset="0"/>
              <a:buNone/>
            </a:pPr>
            <a:r>
              <a:t>Introduce psychoeducation on trauma’s effects, identify triggers without judgment, and promote observer consciousness.</a:t>
            </a:r>
            <a:endParaRPr lang="en-US"/>
          </a:p>
          <a:p>
            <a:pPr marL="0" indent="0">
              <a:spcBef>
                <a:spcPts val="2500"/>
              </a:spcBef>
              <a:buFont typeface="Arial" panose="020B0604020202020204" pitchFamily="34" charset="0"/>
              <a:buNone/>
            </a:pPr>
            <a:r>
              <a:rPr lang="en-US" b="1"/>
              <a:t>Processing and Integration</a:t>
            </a:r>
          </a:p>
          <a:p>
            <a:pPr marL="0" lvl="1" indent="0">
              <a:buFont typeface="Arial" panose="020B0604020202020204" pitchFamily="34" charset="0"/>
              <a:buNone/>
            </a:pPr>
            <a:r>
              <a:t>Work through trauma, develop emotional tolerance, and practice conscious choices during activation.</a:t>
            </a:r>
            <a:endParaRPr lang="en-US"/>
          </a:p>
          <a:p>
            <a:pPr marL="0" indent="0">
              <a:spcBef>
                <a:spcPts val="2500"/>
              </a:spcBef>
              <a:buFont typeface="Arial" panose="020B0604020202020204" pitchFamily="34" charset="0"/>
              <a:buNone/>
            </a:pPr>
            <a:r>
              <a:rPr lang="en-US" b="1"/>
              <a:t>Meaning and Growth</a:t>
            </a:r>
          </a:p>
          <a:p>
            <a:pPr marL="0" lvl="1" indent="0">
              <a:buFont typeface="Arial" panose="020B0604020202020204" pitchFamily="34" charset="0"/>
              <a:buNone/>
            </a:pPr>
            <a:r>
              <a:t>Recognize strengths, clarify values, and set authentic intentions to foster resilience.</a:t>
            </a:r>
            <a:endParaRPr lang="en-US"/>
          </a:p>
          <a:p>
            <a:pPr marL="0" indent="0">
              <a:spcBef>
                <a:spcPts val="2500"/>
              </a:spcBef>
              <a:buFont typeface="Arial" panose="020B0604020202020204" pitchFamily="34" charset="0"/>
              <a:buNone/>
            </a:pPr>
            <a:r>
              <a:rPr lang="en-US" b="1"/>
              <a:t>Service and Integration</a:t>
            </a:r>
          </a:p>
          <a:p>
            <a:pPr marL="0" lvl="1" indent="0">
              <a:buFont typeface="Arial" panose="020B0604020202020204" pitchFamily="34" charset="0"/>
              <a:buNone/>
            </a:pPr>
            <a:r>
              <a:t>Share healing journey, maintain recovery, and engage in long-term self-regulation.</a:t>
            </a:r>
            <a:endParaRPr lang="en-US"/>
          </a:p>
        </p:txBody>
      </p:sp>
    </p:spTree>
    <p:extLst>
      <p:ext uri="{BB962C8B-B14F-4D97-AF65-F5344CB8AC3E}">
        <p14:creationId xmlns:p14="http://schemas.microsoft.com/office/powerpoint/2010/main" val="26586749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CE5F5-FA0E-BC2E-349E-006CDEAA3873}"/>
              </a:ext>
            </a:extLst>
          </p:cNvPr>
          <p:cNvSpPr>
            <a:spLocks noGrp="1"/>
          </p:cNvSpPr>
          <p:nvPr>
            <p:ph type="title"/>
          </p:nvPr>
        </p:nvSpPr>
        <p:spPr>
          <a:xfrm>
            <a:off x="157729" y="3200400"/>
            <a:ext cx="9002895" cy="3582184"/>
          </a:xfrm>
        </p:spPr>
        <p:txBody>
          <a:bodyPr anchor="b">
            <a:normAutofit/>
          </a:bodyPr>
          <a:lstStyle/>
          <a:p>
            <a:r>
              <a:rPr lang="en-US"/>
              <a:t>Somatic Assessment Addendum</a:t>
            </a:r>
          </a:p>
        </p:txBody>
      </p:sp>
    </p:spTree>
    <p:extLst>
      <p:ext uri="{BB962C8B-B14F-4D97-AF65-F5344CB8AC3E}">
        <p14:creationId xmlns:p14="http://schemas.microsoft.com/office/powerpoint/2010/main" val="22788683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EBFCC-E9B1-E98D-41B1-40D03463B58D}"/>
              </a:ext>
            </a:extLst>
          </p:cNvPr>
          <p:cNvSpPr>
            <a:spLocks noGrp="1"/>
          </p:cNvSpPr>
          <p:nvPr>
            <p:ph type="title"/>
          </p:nvPr>
        </p:nvSpPr>
        <p:spPr>
          <a:xfrm>
            <a:off x="182881" y="220869"/>
            <a:ext cx="2941319" cy="3088635"/>
          </a:xfrm>
        </p:spPr>
        <p:txBody>
          <a:bodyPr vert="horz" lIns="91440" tIns="45720" rIns="91440" bIns="45720" rtlCol="0" anchor="t">
            <a:normAutofit/>
          </a:bodyPr>
          <a:lstStyle/>
          <a:p>
            <a:r>
              <a:rPr lang="en-US" b="0" kern="1200" spc="-100" baseline="0">
                <a:latin typeface="+mj-lt"/>
                <a:ea typeface="+mj-ea"/>
                <a:cs typeface="+mj-cs"/>
              </a:rPr>
              <a:t>Clinical Strategies for Somatic Symptom Recognition</a:t>
            </a:r>
          </a:p>
        </p:txBody>
      </p:sp>
      <p:sp>
        <p:nvSpPr>
          <p:cNvPr id="5" name="TextBox 4">
            <a:extLst>
              <a:ext uri="{FF2B5EF4-FFF2-40B4-BE49-F238E27FC236}">
                <a16:creationId xmlns:a16="http://schemas.microsoft.com/office/drawing/2014/main" id="{28CB04F3-13B7-4DA1-B1BF-153387E12F92}"/>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532114" y="220869"/>
            <a:ext cx="4594371" cy="6166259"/>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Unconscious Somatic Indicators</a:t>
            </a:r>
          </a:p>
          <a:p>
            <a:pPr marL="0" lvl="1" indent="0">
              <a:spcBef>
                <a:spcPts val="1000"/>
              </a:spcBef>
              <a:spcAft>
                <a:spcPts val="600"/>
              </a:spcAft>
              <a:buFont typeface="Arial" panose="020B0604020202020204" pitchFamily="34" charset="0"/>
              <a:buNone/>
            </a:pPr>
            <a:r>
              <a:rPr lang="en-US" sz="1400"/>
              <a:t>Unconscious signs like micro-freezes, shallow breathing, and gaze aversion indicate autonomic nervous system dysregulation in trauma.</a:t>
            </a:r>
          </a:p>
          <a:p>
            <a:pPr marL="0" indent="0">
              <a:spcBef>
                <a:spcPts val="2500"/>
              </a:spcBef>
              <a:spcAft>
                <a:spcPts val="600"/>
              </a:spcAft>
              <a:buFont typeface="Arial" panose="020B0604020202020204" pitchFamily="34" charset="0"/>
              <a:buNone/>
            </a:pPr>
            <a:r>
              <a:rPr lang="en-US" sz="1400" b="1"/>
              <a:t>Conscious Symptom Recognition</a:t>
            </a:r>
          </a:p>
          <a:p>
            <a:pPr marL="0" lvl="1" indent="0">
              <a:spcBef>
                <a:spcPts val="1000"/>
              </a:spcBef>
              <a:spcAft>
                <a:spcPts val="600"/>
              </a:spcAft>
              <a:buFont typeface="Arial" panose="020B0604020202020204" pitchFamily="34" charset="0"/>
              <a:buNone/>
            </a:pPr>
            <a:r>
              <a:rPr lang="en-US" sz="1400"/>
              <a:t>Conscious symptoms include reported pain, chronic fatigue, and sleep problems often linked to psychological distress, not organic causes.</a:t>
            </a:r>
          </a:p>
          <a:p>
            <a:pPr marL="0" indent="0">
              <a:spcBef>
                <a:spcPts val="2500"/>
              </a:spcBef>
              <a:spcAft>
                <a:spcPts val="600"/>
              </a:spcAft>
              <a:buFont typeface="Arial" panose="020B0604020202020204" pitchFamily="34" charset="0"/>
              <a:buNone/>
            </a:pPr>
            <a:r>
              <a:rPr lang="en-US" sz="1400" b="1"/>
              <a:t>Trauma-Informed Somatic Care</a:t>
            </a:r>
          </a:p>
          <a:p>
            <a:pPr marL="0" lvl="1" indent="0">
              <a:spcBef>
                <a:spcPts val="1000"/>
              </a:spcBef>
              <a:spcAft>
                <a:spcPts val="600"/>
              </a:spcAft>
              <a:buFont typeface="Arial" panose="020B0604020202020204" pitchFamily="34" charset="0"/>
              <a:buNone/>
            </a:pPr>
            <a:r>
              <a:rPr lang="en-US" sz="1400"/>
              <a:t>Integrating grounding, safety planning, and psychoeducation supports clients in understanding the mind-body connection.</a:t>
            </a:r>
          </a:p>
          <a:p>
            <a:pPr marL="0" indent="0">
              <a:spcBef>
                <a:spcPts val="2500"/>
              </a:spcBef>
              <a:spcAft>
                <a:spcPts val="600"/>
              </a:spcAft>
              <a:buFont typeface="Arial" panose="020B0604020202020204" pitchFamily="34" charset="0"/>
              <a:buNone/>
            </a:pPr>
            <a:r>
              <a:rPr lang="en-US" sz="1400" b="1"/>
              <a:t>Holistic Clinical Approach</a:t>
            </a:r>
          </a:p>
          <a:p>
            <a:pPr marL="0" lvl="1" indent="0">
              <a:spcBef>
                <a:spcPts val="1000"/>
              </a:spcBef>
              <a:spcAft>
                <a:spcPts val="600"/>
              </a:spcAft>
              <a:buFont typeface="Arial" panose="020B0604020202020204" pitchFamily="34" charset="0"/>
              <a:buNone/>
            </a:pPr>
            <a:r>
              <a:rPr lang="en-US" sz="1400"/>
              <a:t>Validating experiences and avoiding overmedicalization fosters compassionate, comprehensive treatment addressing body-mind healing.</a:t>
            </a:r>
          </a:p>
        </p:txBody>
      </p:sp>
      <p:pic>
        <p:nvPicPr>
          <p:cNvPr id="4" name="Content Placeholder 3" descr="Mannequin showing acupuncture pressure points">
            <a:extLst>
              <a:ext uri="{FF2B5EF4-FFF2-40B4-BE49-F238E27FC236}">
                <a16:creationId xmlns:a16="http://schemas.microsoft.com/office/drawing/2014/main" id="{CFA05D83-CAD3-41E6-AA1D-253EE61D899F}"/>
              </a:ext>
            </a:extLst>
          </p:cNvPr>
          <p:cNvPicPr>
            <a:picLocks noGrp="1" noChangeAspect="1"/>
          </p:cNvPicPr>
          <p:nvPr>
            <p:ph type="pic" sz="quarter" idx="13"/>
          </p:nvPr>
        </p:nvPicPr>
        <p:blipFill>
          <a:blip r:embed="rId3"/>
          <a:srcRect r="19717" b="-1"/>
          <a:stretch>
            <a:fillRect/>
          </a:stretch>
        </p:blipFill>
        <p:spPr>
          <a:xfrm>
            <a:off x="8534400" y="269080"/>
            <a:ext cx="3390900" cy="6327648"/>
          </a:xfrm>
        </p:spPr>
      </p:pic>
    </p:spTree>
    <p:extLst>
      <p:ext uri="{BB962C8B-B14F-4D97-AF65-F5344CB8AC3E}">
        <p14:creationId xmlns:p14="http://schemas.microsoft.com/office/powerpoint/2010/main" val="7307090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826328CA-5F67-4711-B85D-145ABD90F0C2}" vid="{19057A55-7D5A-4630-9E53-CA5ED64477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C940ACA-6755-480B-98F2-5699A89626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BD7DE58-0BE1-4C71-B87C-2A79B7BE4426}">
  <ds:schemaRefs>
    <ds:schemaRef ds:uri="http://schemas.microsoft.com/sharepoint/v3/contenttype/forms"/>
  </ds:schemaRefs>
</ds:datastoreItem>
</file>

<file path=customXml/itemProps3.xml><?xml version="1.0" encoding="utf-8"?>
<ds:datastoreItem xmlns:ds="http://schemas.openxmlformats.org/officeDocument/2006/customXml" ds:itemID="{269C16DF-FD5D-45EB-A5D0-4ED61432363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Dune</Template>
  <TotalTime>3</TotalTime>
  <Words>2174</Words>
  <Application>Microsoft Office PowerPoint</Application>
  <PresentationFormat>Widescreen</PresentationFormat>
  <Paragraphs>78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Neue Haas Grotesk Text Pro</vt:lpstr>
      <vt:lpstr>Dune</vt:lpstr>
      <vt:lpstr>ACEs: Integrated Impact Report — Enhanced</vt:lpstr>
      <vt:lpstr>Mechanism of Unconscious Momentum</vt:lpstr>
      <vt:lpstr>Understanding Developmental Stack and Momentum</vt:lpstr>
      <vt:lpstr>Unconscious Decision Chain</vt:lpstr>
      <vt:lpstr>Addiction and Relational Compulsion Mechanisms</vt:lpstr>
      <vt:lpstr>Five-Step Practice</vt:lpstr>
      <vt:lpstr>Structured Intervention for Conscious Transformation</vt:lpstr>
      <vt:lpstr>Phased Care Pathway</vt:lpstr>
      <vt:lpstr>ACE-Informed Recovery Stages</vt:lpstr>
      <vt:lpstr>Somatic Assessment Addendum</vt:lpstr>
      <vt:lpstr>Clinical Strategies for Somatic Symptom Recognition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Neil Schwab</cp:lastModifiedBy>
  <cp:revision>2</cp:revision>
  <dcterms:created xsi:type="dcterms:W3CDTF">2025-08-21T23:11:21Z</dcterms:created>
  <dcterms:modified xsi:type="dcterms:W3CDTF">2026-08-22T15:22:24Z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